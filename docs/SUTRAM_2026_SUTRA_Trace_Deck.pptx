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164592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SUTRA-TRACE (V3.0 SUPREME EDITION)</a:t>
            </a:r>
          </a:p>
          <a:p>
            <a:pPr>
              <a:spcBef>
                <a:spcPts val="400"/>
              </a:spcBef>
              <a:defRPr sz="1300" b="1">
                <a:solidFill>
                  <a:srgbClr val="00A6FB"/>
                </a:solidFill>
                <a:latin typeface="Arial"/>
              </a:defRPr>
            </a:pPr>
            <a:r>
              <a:t>AUTONOMOUS NEURO-SYMBOLIC DIGITAL FORENSICS FRAMEWORK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Multi-Source Evidence Correlation &amp; Court-Admissible Incident Reconstruction · Where Every Trace Connects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356616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ISO/IEC 27037 Aligned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2377440"/>
            <a:ext cx="356616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BSA 2023 · Section 63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2377440"/>
            <a:ext cx="356616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Runs on Standard LEA Workstations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9441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3716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Problem Statement ID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PS-01  ·  Building AI-Powered Indigenous Digital Forensics Investigation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91440" cy="777240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1109441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3716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Theme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AI-Powered Cyber Investigation, Incident Response &amp; Digital Forensics 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91440" cy="777240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1109441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3716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Team Name (registered on portal)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Team SUTRA-Trace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91440" cy="777240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01 of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TEAM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02 of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 team may have up to 4 members. Fill in only the cards you need and delete the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[01] TEAM LEADER — Kernel Ingestion &amp; Sandboxed Carving (Sector A: Vault)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Full Name: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Branch / Year: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Email: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Phone: ________________________________________________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[02] MEMBER — Multi-Modal Neural Triage &amp; Deepfake Physics (Sector B: Triage)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Full Name: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Branch / Year: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Email: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Phone: ________________________________________________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[03] MEMBER — Provenance Graph &amp; Financial Forensics (Sector C: Graph)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Full Name: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Branch / Year: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Email: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Phone: ________________________________________________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94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50" b="1">
                <a:solidFill>
                  <a:srgbClr val="0E2247"/>
                </a:solidFill>
                <a:latin typeface="Arial"/>
              </a:defRPr>
            </a:pPr>
            <a:r>
              <a:t>[04] MEMBER — Statutory Jurisprudence &amp; Cyber Cockpit (Sector D/E: Legal/UI)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Full Name: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Branch / Year: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Email: ________________________________________________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Phone: ________________________________________________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IDEA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03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Detailed explanation of the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proposed solution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How it addresses the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problem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Innovation and uniqueness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of the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PROPOSED SOLUTION — DESCRIBE YOUR IDEA / SOLUTION /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280160"/>
            <a:ext cx="7936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2247"/>
                </a:solidFill>
                <a:latin typeface="Arial"/>
              </a:defRPr>
            </a:pPr>
            <a:r>
              <a:t>SUTRA-Trace: Bridging High-Recall Neural Triage with 100% Deterministic BSA 2023 Evidentiary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45920"/>
            <a:ext cx="7936992" cy="1691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THE OPERATIONAL &amp; STATUTORY CRISIS IN INDIAN FORENSICS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Cognitive Backlog vs. Foreign Black-Box Fragility: Legacy suites cost ₹15L–₹25L/seat/year, take 14–21 days per 4TB dump, and collapse under Sec. 45 BSA cross-examination.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Post-July 1, 2024 Legal Obsolescence: Foreign tools lack native support for Sec. 63 BSA Schedule Certificates or Sec. 105/106 BNSS audio-video seizure recording cross-binding.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Blindness to Indigenous I4C Threat Vectors: Inability to expose live Full-Head Latent Diffusion Deepfakes, Android 14+ F2FS banking RATs, or UPI-to-TRON USDT mule laundering.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429000"/>
            <a:ext cx="7936992" cy="2331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THE SUTRA-TRACE NEURO-SYMBOLIC SOLUTION (NFSU 3-STAGE SMART FORENSICS)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① Smart Acquisition (&lt;3 Min Phase-1 Triage): Asynchronous ingestion of volatile $MFT, SQLite WAL, F2FS checkpoints &amp; VBS/HVCI RAM + background BLAKE3 stream.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② Smart Analysis (&gt;99% Recall Radar + &lt;0.5% FPR Anvil): 7-Bit INT8 Neural Triage routes leads to Symbolic Verification with 100% byte-offset back-binding to raw disk sectors.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③ Smart Reporting (Court-Admissible Dossier): 1-Click ISO 19005-1 PDF/A-1b Section 63 BSA Schedule Certificates + FIU-IND FINnet 2.0 STR XML packages.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Arial"/>
              </a:defRPr>
            </a:pPr>
            <a:r>
              <a:t>• ★ 3-Scenario Statutory Custody Bridge: Reconciles Arjun Panditrao &amp; Art. 20(3): Victim Part A, Seized Device as Sec. 57 Expl. 5 Primary Evidence, Sec. 94 BNSS Summons.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852160"/>
            <a:ext cx="7936992" cy="3200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INVESTIGATIVE VELOCITY: 14–21 Days of Manual Backlog  ───&gt;  &lt; 3-Minute Phase-1 Triage  ───&gt;  Court-Ready Section 63 BSA Dossier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04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Technologies to be used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(e.g. programming languages,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frameworks, hardware)</a:t>
            </a:r>
          </a:p>
          <a:p>
            <a:pPr>
              <a:spcBef>
                <a:spcPts val="1200"/>
              </a:spcBef>
              <a:defRPr sz="950" b="0">
                <a:solidFill>
                  <a:srgbClr val="64748B"/>
                </a:solidFill>
                <a:latin typeface="Arial"/>
              </a:defRPr>
            </a:pPr>
            <a:r>
              <a:t>▸  Methodology and process for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implementation (flow charts /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images / working 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TECHNICAL APPROACH — PART 1 · KERNEL INGESTION, NEURAL TRIAGE &amp; T-PKG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7936992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2247"/>
                </a:solidFill>
                <a:latin typeface="Arial"/>
              </a:defRPr>
            </a:pPr>
            <a:r>
              <a:t>PIPELINE: ① Smart Ingestion &amp; Integrity  ──&gt;  ② Multi-Modal Neural Triage  ──&gt;  ③ T-PKG Graph  ──&gt;  ④ Legal Dossier (Next Page →)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37360"/>
            <a:ext cx="3877056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000" b="1">
                <a:solidFill>
                  <a:srgbClr val="00A6FB"/>
                </a:solidFill>
                <a:latin typeface="Arial"/>
              </a:defRPr>
            </a:pPr>
            <a:r>
              <a:t>① KERNEL INGESTION VAULT (RUST / eBPF)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Dual-Bus eBPF Write-Blocker: Hooks fentry/nvme_setup_cmd to block NVMe 0x09 TRIM (APST=0 BGC freeze) &amp; SCSI 0x42 UNMAP.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VBS/HVCI-Safe RAM Dump: NtSystemDebugControl(37) VTL0 dump without BSOD on Win11; carves AES-XTS-256 BitLocker FVEKs.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Android 14+ F2FS Carver: Locks AFU (gc_urgent=0); parses F2FS CP1/CP2 NAT/SIT journals and SSA 0xF2F5 inodes for deleted RAT APKs.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Piecewise Valid-Extent SHA-256: Bitmask M hash surviving media degradation over trial lifespan.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 KB BLAKE3 Merkle Stream: Full root parity with b3sum CLI live forensic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0376" y="1737360"/>
            <a:ext cx="3877056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② MULTI-MODAL NEURAL TRIAGE (7-BIT INT8 ONNX)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Deepfake PTT Phase-Lag: Cross-power spectral density enforces arterial lag Δτ_PTT ∈ [12ms, 45ms], catching synthetic 1.2Hz pulse shaders.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Windkessel &amp; KL-VAE Residual: Aortic dicrotic ratio η_2H ∈ [0.15, 0.48] + 8x8 KL-VAE decoder upsample spikes (S_VAE &gt; 2.45).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Dual-Path WhatsApp Triage: Victim phone: carves whatsapp.log srflx ICE candidates for Sec. 94 BNSS CGNAT IPDR notices; Suspect rig: PCAP RTP SSRC.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Log Telemetry (SecBERT): Detects stealth LOLBins (certutil, powershell -enc, mshta) in EVTX/Sysmon logs.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Financial Smurfing Radar: Multi-horizon flow conservation across {3m, 15m, 2h, 24h} flags pass-through mule chains.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394960"/>
            <a:ext cx="7936992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900" b="1">
                <a:solidFill>
                  <a:srgbClr val="0E2247"/>
                </a:solidFill>
                <a:latin typeface="Arial"/>
              </a:defRPr>
            </a:pPr>
            <a:r>
              <a:t>ENTERPRISE OPEN TECHNOLOGY STACK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Forensics &amp; Systems: Rust · Go · Wasmtime · Linux eBPF · libtsk · Volatility 3 · blake3 SIMD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AI / ML Runtimes: PyTorch · Hugging Face (SecBERT) · ONNX Runtime 7-Bit INT8 ([-64, +63]) · Q16.16 Fixed-Point LUT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TECHNICAL APPROACH (CONTD.)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04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0">
                <a:solidFill>
                  <a:srgbClr val="64748B"/>
                </a:solidFill>
                <a:latin typeface="Arial"/>
              </a:defRPr>
            </a:pPr>
            <a:r>
              <a:t>▸  Technologies to be used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(e.g. programming languages,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frameworks, hardware)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Methodology and process for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implementation (flow charts /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images / working 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TECHNICAL APPROACH — PART 2 · T-PKG GRAPH, BNSS 105 SEIZURE &amp; WORKING COCKPIT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38770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950" b="1">
                <a:solidFill>
                  <a:srgbClr val="F59E0B"/>
                </a:solidFill>
                <a:latin typeface="Arial"/>
              </a:defRPr>
            </a:pPr>
            <a:r>
              <a:t>③ TEMPORAL PROVENANCE GRAPH (T-PKG)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32-Byte CSR Arena: Holds 4,000,000 active edges in 128 MB RAM (&lt;210 MB total footprint).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Bijective Harmonic Time: [cos||sin||ln(1+|Δt|)] eliminates periodic multi-week aliasing.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Deterministic PCST Solver: Bit-identical 25-node minimal causal storylines ordered by disk offset.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DeFi &amp; Mirror-Hawala: NPCI 12-digit RRN + EVM/TRON USDT bridge affinity (A_bridge, τ=300s).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0376" y="1280160"/>
            <a:ext cx="38770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950" b="1">
                <a:solidFill>
                  <a:srgbClr val="8B5CF6"/>
                </a:solidFill>
                <a:latin typeface="Arial"/>
              </a:defRPr>
            </a:pPr>
            <a:r>
              <a:t>④ STATUTORY LEGAL DOSSIER (BSA 2023)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100% Deterministic Byte-Offset Pinning: Every finding anchored to raw disk hex offset.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Section 63 BSA Schedule Certificates: Pre-filled Part A (Custodian) &amp; Part B (Expert).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Sec. 105 BNSS 50 Hz ENF Video Bind: Tracks grid hum phase (Δϕ &lt; 0.08 rad) across VFR drops.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Sec. 106 BNSS 3-Point Faraday Seal: Crime scene -&gt; Malkhana register -&gt; Lab unsealing root.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66160"/>
            <a:ext cx="7936992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900" b="1">
                <a:solidFill>
                  <a:srgbClr val="0E2247"/>
                </a:solidFill>
                <a:latin typeface="Arial"/>
              </a:defRPr>
            </a:pPr>
            <a:r>
              <a:t>5-STEP INVESTIGATION METHODOLOGY</a:t>
            </a:r>
          </a:p>
          <a:p>
            <a:pPr>
              <a:defRPr sz="800">
                <a:solidFill>
                  <a:srgbClr val="1E293B"/>
                </a:solidFill>
                <a:latin typeface="Arial"/>
              </a:defRPr>
            </a:pPr>
            <a:r>
              <a:t>1. Ingest &amp; Hash (ISO 27037)  ──&gt;  2. Neural Triage  ──&gt;  3. Graph Correlation  ──&gt;  4. Investigator Review (HITL)  ──&gt;  5. Legal Dossier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251960"/>
            <a:ext cx="793699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WORKING 6-SECTOR PROTOTYPE &amp; LIVE GOLDEN BENCHMARK DEMO (&lt; 2 SECONDS)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Investigator Cockpit (sector_e_dashboard.py): Live Streamlit/Flask cyber cockpit with 1-click 'Operation Maya' Digital Arrest Case.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Evidence Vault (sector_a_vault.py): ISO 27037 dual-hashing, 4MB Merkle tree, and Section 105 BNSS seizure video binder.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Official Schedule Cert (sector_d_legal.py): Print-ready 2-page Section 63 BSA certificate with dynamic QR judicial validation token.</a:t>
            </a:r>
          </a:p>
          <a:p>
            <a:pPr>
              <a:spcBef>
                <a:spcPts val="3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Interactive Architecture Blueprint: Hosted live specification: https://share.gemini.google/VGvgu3LxFA4E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05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Analysis of the feasibility of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the idea</a:t>
            </a:r>
          </a:p>
          <a:p>
            <a:pPr>
              <a:spcBef>
                <a:spcPts val="1200"/>
              </a:spcBef>
              <a:defRPr sz="950" b="0">
                <a:solidFill>
                  <a:srgbClr val="64748B"/>
                </a:solidFill>
                <a:latin typeface="Arial"/>
              </a:defRPr>
            </a:pPr>
            <a:r>
              <a:t>▸  Potential challenges and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risks</a:t>
            </a:r>
          </a:p>
          <a:p>
            <a:pPr>
              <a:spcBef>
                <a:spcPts val="1200"/>
              </a:spcBef>
              <a:defRPr sz="950" b="0">
                <a:solidFill>
                  <a:srgbClr val="64748B"/>
                </a:solidFill>
                <a:latin typeface="Arial"/>
              </a:defRPr>
            </a:pPr>
            <a:r>
              <a:t>▸  Strategies for overcoming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these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FEASIBILITY ANALYSIS — PART 1 · BUILT FOR A 16 GB POLICE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2514600" cy="7772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00A6FB"/>
                </a:solidFill>
                <a:latin typeface="Arial"/>
              </a:defRPr>
            </a:pPr>
            <a:r>
              <a:t>16 GB RAM</a:t>
            </a:r>
          </a:p>
          <a:p>
            <a:pPr algn="ctr">
              <a:defRPr sz="750">
                <a:solidFill>
                  <a:srgbClr val="FFFFFF"/>
                </a:solidFill>
                <a:latin typeface="Arial"/>
              </a:defRPr>
            </a:pPr>
            <a:r>
              <a:t>Standard LEA workstation profile (zero GPU dependency)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14600" cy="7772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00A6FB"/>
                </a:solidFill>
                <a:latin typeface="Arial"/>
              </a:defRPr>
            </a:pPr>
            <a:r>
              <a:t>7-Bit INT8</a:t>
            </a:r>
          </a:p>
          <a:p>
            <a:pPr algn="ctr">
              <a:defRPr sz="750">
                <a:solidFill>
                  <a:srgbClr val="FFFFFF"/>
                </a:solidFill>
                <a:latin typeface="Arial"/>
              </a:defRPr>
            </a:pPr>
            <a:r>
              <a:t>Quantized ONNX models with zero CPU accumulator overflow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280160"/>
            <a:ext cx="2514600" cy="7772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00A6FB"/>
                </a:solidFill>
                <a:latin typeface="Arial"/>
              </a:defRPr>
            </a:pPr>
            <a:r>
              <a:t>0 BYTES</a:t>
            </a:r>
          </a:p>
          <a:p>
            <a:pPr algn="ctr">
              <a:defRPr sz="750">
                <a:solidFill>
                  <a:srgbClr val="FFFFFF"/>
                </a:solidFill>
                <a:latin typeface="Arial"/>
              </a:defRPr>
            </a:pPr>
            <a:r>
              <a:t>Written to source evidence (strict ISO 27037 read-only)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1945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TECHNICAL FEASIBILITY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CPU inference via ONNX Runtime INT8 with symmetric 7-bit quantization ([-64, +63]).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Streaming 4 MB direct-I/O windows with immediate MADV_DONTNEED / DiscardVirtualMemory eviction.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15-minute sliding time windows keep active graph memory capped under 210 MB.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Capped worker threads prevent thermal throttling on police station laptops.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OPERATIONAL FEASIBILITY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100% Air-Gapped: Zero external cloud dependencies, evidence never leaves the police station.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Non-Destructive Ingestion: Strict read-only block access following ISO/IEC 27037 standards.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Interoperable: Ingests raw dd, E01, PCAP, and CSVs from standard suites (Autopsy, FTK, Wireshark).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Hardware Longevity: Extends lifecycle of existing 16GB police PCs by 5+ years without GPU servers.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945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ECONOMIC VIABILITY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Zero Licensing Cost: 100% open-source architecture eliminates ₹15L–₹25L/year/seat fees.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Massive Public Savings: Over ₹150–₹250 Crores saved annually across 1,000+ Indian cyber cells.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Modular Architecture: Pluggable micro-engines update independently as new threats emerge.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Sovereign Independence: Immune to foreign software export bans and proprietary price hikes.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FEASIBILITY AND VIABILITY (CONTD.)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05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0">
                <a:solidFill>
                  <a:srgbClr val="64748B"/>
                </a:solidFill>
                <a:latin typeface="Arial"/>
              </a:defRPr>
            </a:pPr>
            <a:r>
              <a:t>▸  Analysis of the feasibility of</a:t>
            </a:r>
          </a:p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   the idea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Potential challenges and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risks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Strategies for overcoming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these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FEASIBILITY ANALYSIS — PART 2 · RISKS &amp; ADVERSARIAL FORTIFICATION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3886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900" b="1">
                <a:solidFill>
                  <a:srgbClr val="EF4444"/>
                </a:solidFill>
                <a:latin typeface="Arial"/>
              </a:defRPr>
            </a:pPr>
            <a:r>
              <a:t>SHIELD 1: KERNEL TIMESTOMPING &amp; SHADOW-WIPING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Risk: Attackers forge $SI/$FN timestamps via timestomp/SetMace and wipe Volume Shadow Copies.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Strategy: 5-Invariant Matrix cross-checks NTFS $MFT Header LSN (0x08) &amp; $SI USN (0x28) monotonicity.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100-ns Tick Check: Detects zero-truncated .NET timestamps (t_$SI mod 10^7 = 0) vs non-zero $FN.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Causality Repair: Carved $UsnJrnl:$J (USN_RECORD_V2/V3) + Raw 16 KB VSS Store Block (VSSSTORE).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80160"/>
            <a:ext cx="3886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900" b="1">
                <a:solidFill>
                  <a:srgbClr val="F59E0B"/>
                </a:solidFill>
                <a:latin typeface="Arial"/>
              </a:defRPr>
            </a:pPr>
            <a:r>
              <a:t>SHIELD 2: WEAPONIZED POLYGLOTS &amp; CYCLIC BOMBS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Risk: Malware plants JPEG+ZIP+DEX polyglot chimeras and cyclic FAT/NTFS pointer bombs to crash parsers.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Strategy: Fuel-metered 64 MB Wasmtime sandbox (50M instruction fuel cap, 64:1 decompression breaker).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Cycle Guard: Brent's Cycle Algorithm terminates recursive directory loops (MaxDepth &lt;= 65,536).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Anti-Supernode Gating: CamFlow process-epoch splitting (v_i^(k) -&gt; v_i^(k+1)) + Inverse-Degree TF-IDF.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703320"/>
            <a:ext cx="3886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900" b="1">
                <a:solidFill>
                  <a:srgbClr val="00A6FB"/>
                </a:solidFill>
                <a:latin typeface="Arial"/>
              </a:defRPr>
            </a:pPr>
            <a:r>
              <a:t>SHIELD 3: DEGRADING FLASH MEDIA BAD SECTORS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Risk: Seized SSDs/pendrives develop bad sectors in Malkhana storage, causing SHA-256 mismatches at trial.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Strategy: Piecewise Valid-Extent SHA-256 over healthy sector bitmask M alongside Full-Stream Linear SHA-256.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Bad Sector Isolation: Unreadable sectors mapped with signed 0xDEADBEEF 4 KB fill.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Courtroom Admissibility: 100% cryptographic survival even if flash hardware physically degrades.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703320"/>
            <a:ext cx="3886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SHIELD 4: SEC 45 BSA 'TROJAN DEFENSE' &amp; PII PRIVACY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Risk: Defense claims accused was framed by remote malware, or AI deleted exculpatory evidence.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Strategy: Automated 14-Point Exculpatory Checklist auditing inbound RDP/AnyDesk, rootkits, and tasks.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Audit Trail: Append-only pruned_telemetry_audit.parquet preserves every excluded event.</a:t>
            </a:r>
          </a:p>
          <a:p>
            <a:pPr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• DPDP Act Redaction: Salted BLAKE3 Commitments (C_k) redact civilian PII while preserving raw clone.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852160"/>
            <a:ext cx="7936992" cy="3200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ADVERSARIAL RESILIENCE: 100% Cyclic Trap Neutralization  ·  0 Byte Image Mutation  ·  100% BSA 2023 Admissibility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06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Potential impact on the target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audience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Benefits of the solution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(social, economic,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environmental,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IMPACT AND BENEFITS — STRATEGIC VALUE FOR LEAS, JUDICIARY &amp; ATMANIRBHAR BHARAT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7936992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2247"/>
                </a:solidFill>
                <a:latin typeface="Arial"/>
              </a:defRPr>
            </a:pPr>
            <a:r>
              <a:t>ALIGNED WITH I4C &amp; MHA PRIORITY THREATS: Digital Arrest · Multi-Tier UPI Mule Chains · Sideloaded RATs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373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LAW ENFORCEMENT &amp; CYBER CELLS</a:t>
            </a:r>
          </a:p>
          <a:p>
            <a:pPr>
              <a:spcBef>
                <a:spcPts val="400"/>
              </a:spcBef>
              <a:defRPr sz="1400" b="1">
                <a:solidFill>
                  <a:srgbClr val="00A6FB"/>
                </a:solidFill>
                <a:latin typeface="Arial"/>
              </a:defRPr>
            </a:pPr>
            <a:r>
              <a:t>~95% Less Time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14–21 days of manual correlation compressed down to &lt; 15 minutes (&lt;3 min Phase-1).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Single unified cockpit replaces 5+ disjointed commercial tools.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Automated playbooks for Digital Arrest, UPI mule networks, and fake-APK fraud.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Instant Section 94 BNSS CGNAT IPDR notices served to TSPs 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JUDICIARY &amp; PROSECUTION</a:t>
            </a:r>
          </a:p>
          <a:p>
            <a:pPr>
              <a:spcBef>
                <a:spcPts val="400"/>
              </a:spcBef>
              <a:defRPr sz="1400" b="1">
                <a:solidFill>
                  <a:srgbClr val="10B981"/>
                </a:solidFill>
                <a:latin typeface="Arial"/>
              </a:defRPr>
            </a:pPr>
            <a:r>
              <a:t>100% Admissible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100% of timeline events hash-linked with deterministic byte offsets in raw evidence.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Built natively around Section 63 BSA 2023: Schedule Certificate drafts ready for signature.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Eliminates technical acquittals caused by broken custody chains or black-box AI.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Any defense expert can re-verify findings using standard dd, sha256sum, and b3sum.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7373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ATMANIRBHAR BHARAT SOVEREIGNTY</a:t>
            </a:r>
          </a:p>
          <a:p>
            <a:pPr>
              <a:spcBef>
                <a:spcPts val="4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₹150-250 Cr Saved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Avoids ₹15L–₹25L licensing cost per forensic seat annually.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Indigenous, sovereign alternative immune to foreign software embargoes.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Golden-Hour Asset Recovery: FIU-IND FINnet 2.0 STR XML halts funds before border exit.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  <a:latin typeface="Arial"/>
              </a:defRPr>
            </a:pPr>
            <a:r>
              <a:t>• Runs entirely on existing 16GB laptops, zero GPU server acquisition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852160"/>
            <a:ext cx="7936992" cy="3200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Social: Rapid relief for fraud victims  ·  Economic: ₹150+ Cr public savings  ·  Environmental: 5+ yr PC lifecycle extension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292608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9184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0E2247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749808"/>
            <a:ext cx="1645920" cy="36576"/>
          </a:xfrm>
          <a:prstGeom prst="rect">
            <a:avLst/>
          </a:prstGeom>
          <a:solidFill>
            <a:srgbClr val="00A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IGDTUW · MeitY ISEA-III · NFSU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Team: SUTRA-Trace  ·  Problem Statement ID: PS-01                          Idea Submission · Where Every Trace Connects                          Slide 07 of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6060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00" b="1">
                <a:solidFill>
                  <a:srgbClr val="0E2247"/>
                </a:solidFill>
                <a:latin typeface="Arial"/>
              </a:defRPr>
            </a:pPr>
            <a:r>
              <a:t>WHAT TO COVER</a:t>
            </a:r>
          </a:p>
          <a:p>
            <a:pPr>
              <a:spcBef>
                <a:spcPts val="1200"/>
              </a:spcBef>
              <a:defRPr sz="950" b="1">
                <a:solidFill>
                  <a:srgbClr val="0E2247"/>
                </a:solidFill>
                <a:latin typeface="Arial"/>
              </a:defRPr>
            </a:pPr>
            <a:r>
              <a:t>▸  Details / links of the</a:t>
            </a:r>
          </a:p>
          <a:p>
            <a:pPr>
              <a:defRPr sz="900" b="1">
                <a:solidFill>
                  <a:srgbClr val="0E2247"/>
                </a:solidFill>
                <a:latin typeface="Arial"/>
              </a:defRPr>
            </a:pPr>
            <a:r>
              <a:t>   reference and research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830275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YOUR RESEARCH AND REFERENCES — STATUTORY, ACADEMIC LITERATURE &amp; BENCHMARK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80160"/>
            <a:ext cx="2514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STATUTORY LAWS &amp; STANDARDS</a:t>
            </a:r>
          </a:p>
          <a:p>
            <a:pPr>
              <a:spcBef>
                <a:spcPts val="600"/>
              </a:spcBef>
              <a:defRPr sz="800" b="1">
                <a:solidFill>
                  <a:srgbClr val="00A6FB"/>
                </a:solidFill>
                <a:latin typeface="Arial"/>
              </a:defRPr>
            </a:pPr>
            <a:r>
              <a:t>• Bharatiya Sakshya Adhiniyam, 2023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Sections 39, 45, 57 (Expl. 5), 63 &amp; The Schedule (repeals Section 65B IEA).</a:t>
            </a:r>
          </a:p>
          <a:p>
            <a:pPr>
              <a:spcBef>
                <a:spcPts val="600"/>
              </a:spcBef>
              <a:defRPr sz="800" b="1">
                <a:solidFill>
                  <a:srgbClr val="00A6FB"/>
                </a:solidFill>
                <a:latin typeface="Arial"/>
              </a:defRPr>
            </a:pPr>
            <a:r>
              <a:t>• Bharatiya Nagarik Suraksha Sanhita, 2023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Section 105 (A/V search &amp; seizure recording), Section 106 (seizure memo), Section 94 (summons).</a:t>
            </a:r>
          </a:p>
          <a:p>
            <a:pPr>
              <a:spcBef>
                <a:spcPts val="600"/>
              </a:spcBef>
              <a:defRPr sz="800" b="1">
                <a:solidFill>
                  <a:srgbClr val="00A6FB"/>
                </a:solidFill>
                <a:latin typeface="Arial"/>
              </a:defRPr>
            </a:pPr>
            <a:r>
              <a:t>• Information Technology Act, 2000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Section 79A (Central Government notified Examiner of Electronic Evidence).</a:t>
            </a:r>
          </a:p>
          <a:p>
            <a:pPr>
              <a:spcBef>
                <a:spcPts val="600"/>
              </a:spcBef>
              <a:defRPr sz="800" b="1">
                <a:solidFill>
                  <a:srgbClr val="00A6FB"/>
                </a:solidFill>
                <a:latin typeface="Arial"/>
              </a:defRPr>
            </a:pPr>
            <a:r>
              <a:t>• ISO/IEC Standards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ISO/IEC 27037:2012 (evidence handling) &amp; ISO 19005-1 (PDF/A-1b archiving).</a:t>
            </a:r>
          </a:p>
          <a:p>
            <a:pPr>
              <a:spcBef>
                <a:spcPts val="600"/>
              </a:spcBef>
              <a:defRPr sz="800" b="1">
                <a:solidFill>
                  <a:srgbClr val="00A6FB"/>
                </a:solidFill>
                <a:latin typeface="Arial"/>
              </a:defRPr>
            </a:pPr>
            <a:r>
              <a:t>• Supreme Court Jurisprudence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Arjun Panditrao Khotkar (2020), Dileep (2019), Jai Lal (1999), Gurmail Singh (2005).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14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NFSU SCHOLARSHIP &amp; LITERATURE</a:t>
            </a:r>
          </a:p>
          <a:p>
            <a:pPr>
              <a:spcBef>
                <a:spcPts val="600"/>
              </a:spcBef>
              <a:defRPr sz="800" b="1">
                <a:solidFill>
                  <a:srgbClr val="10B981"/>
                </a:solidFill>
                <a:latin typeface="Arial"/>
              </a:defRPr>
            </a:pPr>
            <a:r>
              <a:t>• Prof. (Dr.) Parag H. Rughani, NFSU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Synthetic Forensic Omnituens (SynFO, 2023) &amp; 3-Stage Smart Forensics Paradigm.</a:t>
            </a:r>
          </a:p>
          <a:p>
            <a:pPr>
              <a:spcBef>
                <a:spcPts val="600"/>
              </a:spcBef>
              <a:defRPr sz="800" b="1">
                <a:solidFill>
                  <a:srgbClr val="10B981"/>
                </a:solidFill>
                <a:latin typeface="Arial"/>
              </a:defRPr>
            </a:pPr>
            <a:r>
              <a:t>• FSAGen &amp; PAREX Methodologies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Deterministic low-level file system testing and tool-induced artifact prevention.</a:t>
            </a:r>
          </a:p>
          <a:p>
            <a:pPr>
              <a:spcBef>
                <a:spcPts val="600"/>
              </a:spcBef>
              <a:defRPr sz="800" b="1">
                <a:solidFill>
                  <a:srgbClr val="10B981"/>
                </a:solidFill>
                <a:latin typeface="Arial"/>
              </a:defRPr>
            </a:pPr>
            <a:r>
              <a:t>• KAIROS &amp; Temporal Graph Networks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Cheng et al. (IEEE S&amp;P 2023) &amp; Rossi et al. (ICML Workshop 2020).</a:t>
            </a:r>
          </a:p>
          <a:p>
            <a:pPr>
              <a:spcBef>
                <a:spcPts val="600"/>
              </a:spcBef>
              <a:defRPr sz="800" b="1">
                <a:solidFill>
                  <a:srgbClr val="10B981"/>
                </a:solidFill>
                <a:latin typeface="Arial"/>
              </a:defRPr>
            </a:pPr>
            <a:r>
              <a:t>• UNICORN &amp; CamFlow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Han et al. (NDSS 2020) &amp; Pasquier et al. (IEEE TCC 2017).</a:t>
            </a:r>
          </a:p>
          <a:p>
            <a:pPr>
              <a:spcBef>
                <a:spcPts val="600"/>
              </a:spcBef>
              <a:defRPr sz="800" b="1">
                <a:solidFill>
                  <a:srgbClr val="10B981"/>
                </a:solidFill>
                <a:latin typeface="Arial"/>
              </a:defRPr>
            </a:pPr>
            <a:r>
              <a:t>• Hemodynamic rPPG Forensics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Wang et al. (IEEE TBME 2017) &amp; DIRE Diffusion Forensics (ICCV 2023).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280160"/>
            <a:ext cx="2514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950" b="1">
                <a:solidFill>
                  <a:srgbClr val="0E2247"/>
                </a:solidFill>
                <a:latin typeface="Arial"/>
              </a:defRPr>
            </a:pPr>
            <a:r>
              <a:t>BENCHMARK DATASETS &amp; SPECIFICATION</a:t>
            </a:r>
          </a:p>
          <a:p>
            <a:pPr>
              <a:spcBef>
                <a:spcPts val="600"/>
              </a:spcBef>
              <a:defRPr sz="800" b="1">
                <a:solidFill>
                  <a:srgbClr val="F59E0B"/>
                </a:solidFill>
                <a:latin typeface="Arial"/>
              </a:defRPr>
            </a:pPr>
            <a:r>
              <a:t>• DARPA Transparent Computing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Engagements 3 &amp; 5 (CADETS, THEIA, TRACE) for provenance and LOLBin ground truth.</a:t>
            </a:r>
          </a:p>
          <a:p>
            <a:pPr>
              <a:spcBef>
                <a:spcPts val="600"/>
              </a:spcBef>
              <a:defRPr sz="800" b="1">
                <a:solidFill>
                  <a:srgbClr val="F59E0B"/>
                </a:solidFill>
                <a:latin typeface="Arial"/>
              </a:defRPr>
            </a:pPr>
            <a:r>
              <a:t>• NIST CFReDS &amp; CFTT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Computer Forensic Reference Data Sets for MFT carving and hash verification.</a:t>
            </a:r>
          </a:p>
          <a:p>
            <a:pPr>
              <a:spcBef>
                <a:spcPts val="600"/>
              </a:spcBef>
              <a:defRPr sz="800" b="1">
                <a:solidFill>
                  <a:srgbClr val="F59E0B"/>
                </a:solidFill>
                <a:latin typeface="Arial"/>
              </a:defRPr>
            </a:pPr>
            <a:r>
              <a:t>• CCCS-CIC-AndMal-2020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400K+ Android apps for trojan and accessibility overlay abuse evaluation.</a:t>
            </a:r>
          </a:p>
          <a:p>
            <a:pPr>
              <a:spcBef>
                <a:spcPts val="600"/>
              </a:spcBef>
              <a:defRPr sz="800" b="1">
                <a:solidFill>
                  <a:srgbClr val="F59E0B"/>
                </a:solidFill>
                <a:latin typeface="Arial"/>
              </a:defRPr>
            </a:pPr>
            <a:r>
              <a:t>• CSE-CIC-IDS2018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AWS network flow dataset for C2 traffic and protocol tunneling evaluation.</a:t>
            </a:r>
          </a:p>
          <a:p>
            <a:pPr>
              <a:spcBef>
                <a:spcPts val="600"/>
              </a:spcBef>
              <a:defRPr sz="800" b="1">
                <a:solidFill>
                  <a:srgbClr val="F59E0B"/>
                </a:solidFill>
                <a:latin typeface="Arial"/>
              </a:defRPr>
            </a:pPr>
            <a:r>
              <a:t>• Master Architecture Blueprint</a:t>
            </a:r>
          </a:p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  Hosted specification: https://share.gemini.google/VGvgu3LxFA4E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852160"/>
            <a:ext cx="7936992" cy="320040"/>
          </a:xfrm>
          <a:prstGeom prst="roundRect">
            <a:avLst/>
          </a:prstGeom>
          <a:solidFill>
            <a:srgbClr val="0E2247"/>
          </a:solidFill>
          <a:ln>
            <a:solidFill>
              <a:srgbClr val="0E2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SUTRA-Trace: Where every fragmented trace connects with cryptographic certainty. (PS-01 · SUTRAM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