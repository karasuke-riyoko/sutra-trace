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share.gemini.google/VGvgu3LxFA4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ver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4320"/>
            <a:ext cx="1005840" cy="1005840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237744"/>
            <a:ext cx="1060704" cy="1060704"/>
          </a:xfrm>
          <a:prstGeom prst="rect">
            <a:avLst/>
          </a:prstGeom>
        </p:spPr>
      </p:pic>
      <p:pic>
        <p:nvPicPr>
          <p:cNvPr id="5" name="logo_sutram" descr="logo_sut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700784"/>
            <a:ext cx="4617720" cy="11704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93792" y="2889504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601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334A"/>
                </a:solidFill>
                <a:latin typeface="Arial"/>
              </a:rPr>
              <a:t>AI-POWERED CYBER INVESTIGATION  &amp;  DIGITAL FORENSICS HACKATHON</a:t>
            </a:r>
          </a:p>
        </p:txBody>
      </p:sp>
      <p:sp>
        <p:nvSpPr>
          <p:cNvPr id="8" name="Field Problem Statement ID"/>
          <p:cNvSpPr/>
          <p:nvPr/>
        </p:nvSpPr>
        <p:spPr>
          <a:xfrm>
            <a:off x="1298448" y="4151376"/>
            <a:ext cx="9601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EE5ED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eld bar"/>
          <p:cNvSpPr/>
          <p:nvPr/>
        </p:nvSpPr>
        <p:spPr>
          <a:xfrm>
            <a:off x="1298448" y="4151376"/>
            <a:ext cx="91440" cy="512064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4151376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7334A"/>
                </a:solidFill>
                <a:latin typeface="Arial"/>
              </a:rPr>
              <a:t>Problem Statement ID</a:t>
            </a:r>
          </a:p>
        </p:txBody>
      </p:sp>
      <p:sp>
        <p:nvSpPr>
          <p:cNvPr id="11" name="Field value"/>
          <p:cNvSpPr txBox="1"/>
          <p:nvPr/>
        </p:nvSpPr>
        <p:spPr>
          <a:xfrm>
            <a:off x="5120640" y="4151376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1" i="0">
                <a:solidFill>
                  <a:srgbClr val="151F3A"/>
                </a:solidFill>
                <a:latin typeface="Calibri"/>
              </a:rPr>
              <a:t>PS-01 — Building an AI-Powered Indigenous Digital Forensics Investigation Framework</a:t>
            </a:r>
          </a:p>
        </p:txBody>
      </p:sp>
      <p:sp>
        <p:nvSpPr>
          <p:cNvPr id="12" name="Field Theme"/>
          <p:cNvSpPr/>
          <p:nvPr/>
        </p:nvSpPr>
        <p:spPr>
          <a:xfrm>
            <a:off x="1298448" y="4773168"/>
            <a:ext cx="9601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EE5ED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eld bar"/>
          <p:cNvSpPr/>
          <p:nvPr/>
        </p:nvSpPr>
        <p:spPr>
          <a:xfrm>
            <a:off x="1298448" y="4773168"/>
            <a:ext cx="91440" cy="512064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4773168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7334A"/>
                </a:solidFill>
                <a:latin typeface="Arial"/>
              </a:rPr>
              <a:t>Theme</a:t>
            </a:r>
          </a:p>
        </p:txBody>
      </p:sp>
      <p:sp>
        <p:nvSpPr>
          <p:cNvPr id="15" name="Field value"/>
          <p:cNvSpPr txBox="1"/>
          <p:nvPr/>
        </p:nvSpPr>
        <p:spPr>
          <a:xfrm>
            <a:off x="5120640" y="4773168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1" i="0">
                <a:solidFill>
                  <a:srgbClr val="151F3A"/>
                </a:solidFill>
                <a:latin typeface="Calibri"/>
              </a:rPr>
              <a:t>AI-Powered Cyber Investigation, Incident Response &amp; Digital Forensics Technologies</a:t>
            </a:r>
          </a:p>
        </p:txBody>
      </p:sp>
      <p:sp>
        <p:nvSpPr>
          <p:cNvPr id="16" name="Field Team Name (registered on portal)"/>
          <p:cNvSpPr/>
          <p:nvPr/>
        </p:nvSpPr>
        <p:spPr>
          <a:xfrm>
            <a:off x="1298448" y="5394960"/>
            <a:ext cx="96012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EE5ED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ield bar"/>
          <p:cNvSpPr/>
          <p:nvPr/>
        </p:nvSpPr>
        <p:spPr>
          <a:xfrm>
            <a:off x="1298448" y="5394960"/>
            <a:ext cx="91440" cy="512064"/>
          </a:xfrm>
          <a:prstGeom prst="rect">
            <a:avLst/>
          </a:prstGeom>
          <a:solidFill>
            <a:srgbClr val="8FA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5394960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7334A"/>
                </a:solidFill>
                <a:latin typeface="Arial"/>
              </a:rPr>
              <a:t>Team Name (registered on portal)</a:t>
            </a:r>
          </a:p>
        </p:txBody>
      </p:sp>
      <p:sp>
        <p:nvSpPr>
          <p:cNvPr id="19" name="Field value"/>
          <p:cNvSpPr txBox="1"/>
          <p:nvPr/>
        </p:nvSpPr>
        <p:spPr>
          <a:xfrm>
            <a:off x="5120640" y="5394960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1" i="0">
                <a:solidFill>
                  <a:srgbClr val="151F3A"/>
                </a:solidFill>
                <a:latin typeface="Calibri"/>
              </a:rPr>
              <a:t>Team SUTRA-Trace</a:t>
            </a:r>
          </a:p>
        </p:txBody>
      </p:sp>
      <p:sp>
        <p:nvSpPr>
          <p:cNvPr id="20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21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22" name="logo_sutram_light" descr="logo_sutram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23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team" descr="bg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TEAM DETAILS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1274552" cy="36576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D4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A team may have up to 4 members.</a:t>
            </a:r>
            <a:r>
              <a:rPr sz="1100" b="0" i="0">
                <a:solidFill>
                  <a:srgbClr val="597082"/>
                </a:solidFill>
                <a:latin typeface="Calibri"/>
              </a:rPr>
              <a:t>  Fill in only the cards you need and delete the rest.</a:t>
            </a:r>
          </a:p>
        </p:txBody>
      </p:sp>
      <p:sp>
        <p:nvSpPr>
          <p:cNvPr id="10" name="Member card 01"/>
          <p:cNvSpPr/>
          <p:nvPr/>
        </p:nvSpPr>
        <p:spPr>
          <a:xfrm>
            <a:off x="457200" y="1920240"/>
            <a:ext cx="5449824" cy="2039112"/>
          </a:xfrm>
          <a:prstGeom prst="roundRect">
            <a:avLst>
              <a:gd name="adj" fmla="val 7802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103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09E"/>
                </a:solidFill>
                <a:latin typeface="Arial"/>
              </a:rPr>
              <a:t>TEAM LEADER</a:t>
            </a:r>
          </a:p>
        </p:txBody>
      </p:sp>
      <p:sp>
        <p:nvSpPr>
          <p:cNvPr id="13" name="Tag SECTOR A · VAULT"/>
          <p:cNvSpPr/>
          <p:nvPr/>
        </p:nvSpPr>
        <p:spPr>
          <a:xfrm>
            <a:off x="4511040" y="2130552"/>
            <a:ext cx="1121664" cy="201168"/>
          </a:xfrm>
          <a:prstGeom prst="rect">
            <a:avLst/>
          </a:prstGeom>
          <a:solidFill>
            <a:srgbClr val="15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0" rIns="64008" bIns="0"/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CAD45"/>
                </a:solidFill>
                <a:latin typeface="Courier New"/>
              </a:rPr>
              <a:t>SECTOR A · 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6946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Full Name</a:t>
            </a:r>
          </a:p>
        </p:txBody>
      </p:sp>
      <p:sp>
        <p:nvSpPr>
          <p:cNvPr id="15" name="Field value"/>
          <p:cNvSpPr txBox="1"/>
          <p:nvPr/>
        </p:nvSpPr>
        <p:spPr>
          <a:xfrm>
            <a:off x="2240280" y="254203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[Team Leader Name]</a:t>
            </a:r>
          </a:p>
        </p:txBody>
      </p:sp>
      <p:sp>
        <p:nvSpPr>
          <p:cNvPr id="16" name="Field line"/>
          <p:cNvSpPr/>
          <p:nvPr/>
        </p:nvSpPr>
        <p:spPr>
          <a:xfrm>
            <a:off x="2240280" y="2752344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8986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Branch / Year</a:t>
            </a:r>
          </a:p>
        </p:txBody>
      </p:sp>
      <p:sp>
        <p:nvSpPr>
          <p:cNvPr id="18" name="Field value"/>
          <p:cNvSpPr txBox="1"/>
          <p:nvPr/>
        </p:nvSpPr>
        <p:spPr>
          <a:xfrm>
            <a:off x="2240280" y="2871216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CSE / Cyber Security</a:t>
            </a:r>
          </a:p>
        </p:txBody>
      </p:sp>
      <p:sp>
        <p:nvSpPr>
          <p:cNvPr id="19" name="Field line"/>
          <p:cNvSpPr/>
          <p:nvPr/>
        </p:nvSpPr>
        <p:spPr>
          <a:xfrm>
            <a:off x="2240280" y="3081528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278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Email</a:t>
            </a:r>
          </a:p>
        </p:txBody>
      </p:sp>
      <p:sp>
        <p:nvSpPr>
          <p:cNvPr id="21" name="Field value"/>
          <p:cNvSpPr txBox="1"/>
          <p:nvPr/>
        </p:nvSpPr>
        <p:spPr>
          <a:xfrm>
            <a:off x="2240280" y="3200400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[Email]</a:t>
            </a:r>
          </a:p>
        </p:txBody>
      </p:sp>
      <p:sp>
        <p:nvSpPr>
          <p:cNvPr id="22" name="Field line"/>
          <p:cNvSpPr/>
          <p:nvPr/>
        </p:nvSpPr>
        <p:spPr>
          <a:xfrm>
            <a:off x="2240280" y="3410712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55701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Phone</a:t>
            </a:r>
          </a:p>
        </p:txBody>
      </p:sp>
      <p:sp>
        <p:nvSpPr>
          <p:cNvPr id="24" name="Field value"/>
          <p:cNvSpPr txBox="1"/>
          <p:nvPr/>
        </p:nvSpPr>
        <p:spPr>
          <a:xfrm>
            <a:off x="2240280" y="3529584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[Phone]</a:t>
            </a:r>
          </a:p>
        </p:txBody>
      </p:sp>
      <p:sp>
        <p:nvSpPr>
          <p:cNvPr id="25" name="Field line"/>
          <p:cNvSpPr/>
          <p:nvPr/>
        </p:nvSpPr>
        <p:spPr>
          <a:xfrm>
            <a:off x="2240280" y="3739896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ember card 02"/>
          <p:cNvSpPr/>
          <p:nvPr/>
        </p:nvSpPr>
        <p:spPr>
          <a:xfrm>
            <a:off x="6281928" y="1920240"/>
            <a:ext cx="5449824" cy="2039112"/>
          </a:xfrm>
          <a:prstGeom prst="roundRect">
            <a:avLst>
              <a:gd name="adj" fmla="val 7802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56248" y="2103120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103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97082"/>
                </a:solidFill>
                <a:latin typeface="Arial"/>
              </a:rPr>
              <a:t>MEMBER</a:t>
            </a:r>
          </a:p>
        </p:txBody>
      </p:sp>
      <p:sp>
        <p:nvSpPr>
          <p:cNvPr id="29" name="Tag SECTOR B · TRIAGE"/>
          <p:cNvSpPr/>
          <p:nvPr/>
        </p:nvSpPr>
        <p:spPr>
          <a:xfrm>
            <a:off x="10274808" y="2130552"/>
            <a:ext cx="1182624" cy="201168"/>
          </a:xfrm>
          <a:prstGeom prst="rect">
            <a:avLst/>
          </a:prstGeom>
          <a:solidFill>
            <a:srgbClr val="15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0" rIns="64008" bIns="0"/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CAD45"/>
                </a:solidFill>
                <a:latin typeface="Courier New"/>
              </a:rPr>
              <a:t>SECTOR B · 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256946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Full Name</a:t>
            </a:r>
          </a:p>
        </p:txBody>
      </p:sp>
      <p:sp>
        <p:nvSpPr>
          <p:cNvPr id="31" name="Field value"/>
          <p:cNvSpPr txBox="1"/>
          <p:nvPr/>
        </p:nvSpPr>
        <p:spPr>
          <a:xfrm>
            <a:off x="8065008" y="254203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[Member 2 Name]</a:t>
            </a:r>
          </a:p>
        </p:txBody>
      </p:sp>
      <p:sp>
        <p:nvSpPr>
          <p:cNvPr id="32" name="Field line"/>
          <p:cNvSpPr/>
          <p:nvPr/>
        </p:nvSpPr>
        <p:spPr>
          <a:xfrm>
            <a:off x="8065008" y="2752344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28986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Branch / Year</a:t>
            </a:r>
          </a:p>
        </p:txBody>
      </p:sp>
      <p:sp>
        <p:nvSpPr>
          <p:cNvPr id="34" name="Field value"/>
          <p:cNvSpPr txBox="1"/>
          <p:nvPr/>
        </p:nvSpPr>
        <p:spPr>
          <a:xfrm>
            <a:off x="8065008" y="2871216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35" name="Field line"/>
          <p:cNvSpPr/>
          <p:nvPr/>
        </p:nvSpPr>
        <p:spPr>
          <a:xfrm>
            <a:off x="8065008" y="3081528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2278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Email</a:t>
            </a:r>
          </a:p>
        </p:txBody>
      </p:sp>
      <p:sp>
        <p:nvSpPr>
          <p:cNvPr id="37" name="Field value"/>
          <p:cNvSpPr txBox="1"/>
          <p:nvPr/>
        </p:nvSpPr>
        <p:spPr>
          <a:xfrm>
            <a:off x="8065008" y="3200400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[Email]</a:t>
            </a:r>
          </a:p>
        </p:txBody>
      </p:sp>
      <p:sp>
        <p:nvSpPr>
          <p:cNvPr id="38" name="Field line"/>
          <p:cNvSpPr/>
          <p:nvPr/>
        </p:nvSpPr>
        <p:spPr>
          <a:xfrm>
            <a:off x="8065008" y="3410712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4536" y="355701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Phone</a:t>
            </a:r>
          </a:p>
        </p:txBody>
      </p:sp>
      <p:sp>
        <p:nvSpPr>
          <p:cNvPr id="40" name="Field value"/>
          <p:cNvSpPr txBox="1"/>
          <p:nvPr/>
        </p:nvSpPr>
        <p:spPr>
          <a:xfrm>
            <a:off x="8065008" y="3529584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[Phone]</a:t>
            </a:r>
          </a:p>
        </p:txBody>
      </p:sp>
      <p:sp>
        <p:nvSpPr>
          <p:cNvPr id="41" name="Field line"/>
          <p:cNvSpPr/>
          <p:nvPr/>
        </p:nvSpPr>
        <p:spPr>
          <a:xfrm>
            <a:off x="8065008" y="3739896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ember card 03"/>
          <p:cNvSpPr/>
          <p:nvPr/>
        </p:nvSpPr>
        <p:spPr>
          <a:xfrm>
            <a:off x="457200" y="4215383"/>
            <a:ext cx="5449824" cy="2039112"/>
          </a:xfrm>
          <a:prstGeom prst="roundRect">
            <a:avLst>
              <a:gd name="adj" fmla="val 7802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4398264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8FA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3584" y="43982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97082"/>
                </a:solidFill>
                <a:latin typeface="Arial"/>
              </a:rPr>
              <a:t>MEMBER   </a:t>
            </a:r>
            <a:r>
              <a:rPr sz="1000" b="0" i="1">
                <a:solidFill>
                  <a:srgbClr val="5B6070"/>
                </a:solidFill>
                <a:latin typeface="Arial"/>
              </a:rPr>
              <a:t>(if applicable)</a:t>
            </a:r>
          </a:p>
        </p:txBody>
      </p:sp>
      <p:sp>
        <p:nvSpPr>
          <p:cNvPr id="45" name="Tag SECTOR C · GRAPH"/>
          <p:cNvSpPr/>
          <p:nvPr/>
        </p:nvSpPr>
        <p:spPr>
          <a:xfrm>
            <a:off x="4511040" y="4425696"/>
            <a:ext cx="1121664" cy="201168"/>
          </a:xfrm>
          <a:prstGeom prst="rect">
            <a:avLst/>
          </a:prstGeom>
          <a:solidFill>
            <a:srgbClr val="15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0" rIns="64008" bIns="0"/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CAD45"/>
                </a:solidFill>
                <a:latin typeface="Courier New"/>
              </a:rPr>
              <a:t>SECTOR C · GRAPH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486460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Full Name</a:t>
            </a:r>
          </a:p>
        </p:txBody>
      </p:sp>
      <p:sp>
        <p:nvSpPr>
          <p:cNvPr id="47" name="Field value"/>
          <p:cNvSpPr txBox="1"/>
          <p:nvPr/>
        </p:nvSpPr>
        <p:spPr>
          <a:xfrm>
            <a:off x="2240280" y="4837175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[Member 3 Name]</a:t>
            </a:r>
          </a:p>
        </p:txBody>
      </p:sp>
      <p:sp>
        <p:nvSpPr>
          <p:cNvPr id="48" name="Field line"/>
          <p:cNvSpPr/>
          <p:nvPr/>
        </p:nvSpPr>
        <p:spPr>
          <a:xfrm>
            <a:off x="2240280" y="5047488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19379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Branch / Year</a:t>
            </a:r>
          </a:p>
        </p:txBody>
      </p:sp>
      <p:sp>
        <p:nvSpPr>
          <p:cNvPr id="50" name="Field value"/>
          <p:cNvSpPr txBox="1"/>
          <p:nvPr/>
        </p:nvSpPr>
        <p:spPr>
          <a:xfrm>
            <a:off x="2240280" y="5166359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Data Science / Financial Engineering</a:t>
            </a:r>
          </a:p>
        </p:txBody>
      </p:sp>
      <p:sp>
        <p:nvSpPr>
          <p:cNvPr id="51" name="Field line"/>
          <p:cNvSpPr/>
          <p:nvPr/>
        </p:nvSpPr>
        <p:spPr>
          <a:xfrm>
            <a:off x="2240280" y="5376672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552297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Email</a:t>
            </a:r>
          </a:p>
        </p:txBody>
      </p:sp>
      <p:sp>
        <p:nvSpPr>
          <p:cNvPr id="53" name="Field value"/>
          <p:cNvSpPr txBox="1"/>
          <p:nvPr/>
        </p:nvSpPr>
        <p:spPr>
          <a:xfrm>
            <a:off x="2240280" y="5495543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[Email]</a:t>
            </a:r>
          </a:p>
        </p:txBody>
      </p:sp>
      <p:sp>
        <p:nvSpPr>
          <p:cNvPr id="54" name="Field line"/>
          <p:cNvSpPr/>
          <p:nvPr/>
        </p:nvSpPr>
        <p:spPr>
          <a:xfrm>
            <a:off x="2240280" y="5705855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585215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Phone</a:t>
            </a:r>
          </a:p>
        </p:txBody>
      </p:sp>
      <p:sp>
        <p:nvSpPr>
          <p:cNvPr id="56" name="Field value"/>
          <p:cNvSpPr txBox="1"/>
          <p:nvPr/>
        </p:nvSpPr>
        <p:spPr>
          <a:xfrm>
            <a:off x="2240280" y="5824727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[Phone]</a:t>
            </a:r>
          </a:p>
        </p:txBody>
      </p:sp>
      <p:sp>
        <p:nvSpPr>
          <p:cNvPr id="57" name="Field line"/>
          <p:cNvSpPr/>
          <p:nvPr/>
        </p:nvSpPr>
        <p:spPr>
          <a:xfrm>
            <a:off x="2240280" y="6035040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mber card 04"/>
          <p:cNvSpPr/>
          <p:nvPr/>
        </p:nvSpPr>
        <p:spPr>
          <a:xfrm>
            <a:off x="6281928" y="4215383"/>
            <a:ext cx="5449824" cy="2039112"/>
          </a:xfrm>
          <a:prstGeom prst="roundRect">
            <a:avLst>
              <a:gd name="adj" fmla="val 7802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56248" y="4398264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8FA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8312" y="43982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97082"/>
                </a:solidFill>
                <a:latin typeface="Arial"/>
              </a:rPr>
              <a:t>MEMBER   </a:t>
            </a:r>
            <a:r>
              <a:rPr sz="1000" b="0" i="1">
                <a:solidFill>
                  <a:srgbClr val="5B6070"/>
                </a:solidFill>
                <a:latin typeface="Arial"/>
              </a:rPr>
              <a:t>(if applicable)</a:t>
            </a:r>
          </a:p>
        </p:txBody>
      </p:sp>
      <p:sp>
        <p:nvSpPr>
          <p:cNvPr id="61" name="Tag SECTOR D/E · LEGAL/UI"/>
          <p:cNvSpPr/>
          <p:nvPr/>
        </p:nvSpPr>
        <p:spPr>
          <a:xfrm>
            <a:off x="10030967" y="4425696"/>
            <a:ext cx="1426464" cy="201168"/>
          </a:xfrm>
          <a:prstGeom prst="rect">
            <a:avLst/>
          </a:prstGeom>
          <a:solidFill>
            <a:srgbClr val="15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0" rIns="64008" bIns="0"/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CAD45"/>
                </a:solidFill>
                <a:latin typeface="Courier New"/>
              </a:rPr>
              <a:t>SECTOR D/E · LEGAL/UI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74536" y="4864607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Full Name</a:t>
            </a:r>
          </a:p>
        </p:txBody>
      </p:sp>
      <p:sp>
        <p:nvSpPr>
          <p:cNvPr id="63" name="Field value"/>
          <p:cNvSpPr txBox="1"/>
          <p:nvPr/>
        </p:nvSpPr>
        <p:spPr>
          <a:xfrm>
            <a:off x="8065008" y="4837175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[Member 4 Name]</a:t>
            </a:r>
          </a:p>
        </p:txBody>
      </p:sp>
      <p:sp>
        <p:nvSpPr>
          <p:cNvPr id="64" name="Field line"/>
          <p:cNvSpPr/>
          <p:nvPr/>
        </p:nvSpPr>
        <p:spPr>
          <a:xfrm>
            <a:off x="8065008" y="5047488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74536" y="519379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Branch / Year</a:t>
            </a:r>
          </a:p>
        </p:txBody>
      </p:sp>
      <p:sp>
        <p:nvSpPr>
          <p:cNvPr id="66" name="Field value"/>
          <p:cNvSpPr txBox="1"/>
          <p:nvPr/>
        </p:nvSpPr>
        <p:spPr>
          <a:xfrm>
            <a:off x="8065008" y="5166359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Cyber Law &amp; Forensic Analytics</a:t>
            </a:r>
          </a:p>
        </p:txBody>
      </p:sp>
      <p:sp>
        <p:nvSpPr>
          <p:cNvPr id="67" name="Field line"/>
          <p:cNvSpPr/>
          <p:nvPr/>
        </p:nvSpPr>
        <p:spPr>
          <a:xfrm>
            <a:off x="8065008" y="5376672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74536" y="552297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Email</a:t>
            </a:r>
          </a:p>
        </p:txBody>
      </p:sp>
      <p:sp>
        <p:nvSpPr>
          <p:cNvPr id="69" name="Field value"/>
          <p:cNvSpPr txBox="1"/>
          <p:nvPr/>
        </p:nvSpPr>
        <p:spPr>
          <a:xfrm>
            <a:off x="8065008" y="5495543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[Email]</a:t>
            </a:r>
          </a:p>
        </p:txBody>
      </p:sp>
      <p:sp>
        <p:nvSpPr>
          <p:cNvPr id="70" name="Field line"/>
          <p:cNvSpPr/>
          <p:nvPr/>
        </p:nvSpPr>
        <p:spPr>
          <a:xfrm>
            <a:off x="8065008" y="5705855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74536" y="585215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7082"/>
                </a:solidFill>
                <a:latin typeface="Calibri"/>
              </a:rPr>
              <a:t>Phone</a:t>
            </a:r>
          </a:p>
        </p:txBody>
      </p:sp>
      <p:sp>
        <p:nvSpPr>
          <p:cNvPr id="72" name="Field value"/>
          <p:cNvSpPr txBox="1"/>
          <p:nvPr/>
        </p:nvSpPr>
        <p:spPr>
          <a:xfrm>
            <a:off x="8065008" y="5824727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34A"/>
                </a:solidFill>
                <a:latin typeface="Calibri"/>
              </a:rPr>
              <a:t>[Phone]</a:t>
            </a:r>
          </a:p>
        </p:txBody>
      </p:sp>
      <p:sp>
        <p:nvSpPr>
          <p:cNvPr id="73" name="Field line"/>
          <p:cNvSpPr/>
          <p:nvPr/>
        </p:nvSpPr>
        <p:spPr>
          <a:xfrm>
            <a:off x="8065008" y="6035040"/>
            <a:ext cx="3364992" cy="12801"/>
          </a:xfrm>
          <a:prstGeom prst="rect">
            <a:avLst/>
          </a:prstGeom>
          <a:solidFill>
            <a:srgbClr val="CF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7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7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7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IDEA TITLE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Detailed explanation of the proposed solution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How it addresses the problem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Innovation and uniqueness of the solution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PROPOSED SOLUTION  —  describe your idea / solution / prototype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AI finds the lead. Byte offsets prove it in court.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03</a:t>
            </a:r>
          </a:p>
        </p:txBody>
      </p:sp>
      <p:grpSp>
        <p:nvGrpSpPr>
          <p:cNvPr id="18" name="Card Crisis at the frontline"/>
          <p:cNvGrpSpPr/>
          <p:nvPr/>
        </p:nvGrpSpPr>
        <p:grpSpPr>
          <a:xfrm>
            <a:off x="4864608" y="2304288"/>
            <a:ext cx="2162556" cy="2436876"/>
            <a:chOff x="4864608" y="2304288"/>
            <a:chExt cx="2162556" cy="2436876"/>
          </a:xfrm>
        </p:grpSpPr>
        <p:sp>
          <p:nvSpPr>
            <p:cNvPr id="19" name="Shadow"/>
            <p:cNvSpPr/>
            <p:nvPr/>
          </p:nvSpPr>
          <p:spPr>
            <a:xfrm>
              <a:off x="4905756" y="2345436"/>
              <a:ext cx="2121408" cy="2395728"/>
            </a:xfrm>
            <a:prstGeom prst="roundRect">
              <a:avLst>
                <a:gd name="adj" fmla="val 1724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anel"/>
            <p:cNvSpPr/>
            <p:nvPr/>
          </p:nvSpPr>
          <p:spPr>
            <a:xfrm>
              <a:off x="4864608" y="2304288"/>
              <a:ext cx="2121408" cy="2395728"/>
            </a:xfrm>
            <a:prstGeom prst="roundRect">
              <a:avLst>
                <a:gd name="adj" fmla="val 1724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ag THE PROBLEM"/>
            <p:cNvSpPr/>
            <p:nvPr/>
          </p:nvSpPr>
          <p:spPr>
            <a:xfrm>
              <a:off x="4974336" y="2404872"/>
              <a:ext cx="816864" cy="201168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FFFFFF"/>
                  </a:solidFill>
                  <a:latin typeface="Courier New"/>
                </a:rPr>
                <a:t>THE PROBLEM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74336" y="2651760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CRISIS AT THE FRONTLINE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74336" y="2907792"/>
              <a:ext cx="1938527" cy="17373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₹15L–₹25L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per seat a year for foreign black-box suites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14–21 day backlog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per 4 TB dump; fails Sec. 45 BSA scrutiny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No Sec. 63 BSA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or Sec. 105/106 BNSS support since July 2024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Blind to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Digital Arrest deepfakes, F2FS RATs, UPI→USDT</a:t>
              </a:r>
            </a:p>
          </p:txBody>
        </p:sp>
      </p:grpSp>
      <p:grpSp>
        <p:nvGrpSpPr>
          <p:cNvPr id="24" name="Card 3-stage smart forensics"/>
          <p:cNvGrpSpPr/>
          <p:nvPr/>
        </p:nvGrpSpPr>
        <p:grpSpPr>
          <a:xfrm>
            <a:off x="7150608" y="2304288"/>
            <a:ext cx="2162556" cy="2436876"/>
            <a:chOff x="7150608" y="2304288"/>
            <a:chExt cx="2162556" cy="2436876"/>
          </a:xfrm>
        </p:grpSpPr>
        <p:sp>
          <p:nvSpPr>
            <p:cNvPr id="25" name="Shadow"/>
            <p:cNvSpPr/>
            <p:nvPr/>
          </p:nvSpPr>
          <p:spPr>
            <a:xfrm>
              <a:off x="7191756" y="2345436"/>
              <a:ext cx="2121408" cy="2395728"/>
            </a:xfrm>
            <a:prstGeom prst="roundRect">
              <a:avLst>
                <a:gd name="adj" fmla="val 1724"/>
              </a:avLst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anel"/>
            <p:cNvSpPr/>
            <p:nvPr/>
          </p:nvSpPr>
          <p:spPr>
            <a:xfrm>
              <a:off x="7150608" y="2304288"/>
              <a:ext cx="2121408" cy="2395728"/>
            </a:xfrm>
            <a:prstGeom prst="roundRect">
              <a:avLst>
                <a:gd name="adj" fmla="val 1724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ag THE SOLUTION"/>
            <p:cNvSpPr/>
            <p:nvPr/>
          </p:nvSpPr>
          <p:spPr>
            <a:xfrm>
              <a:off x="7260336" y="2404872"/>
              <a:ext cx="877824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THE SOLUTION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60336" y="2651760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Arial"/>
                </a:rPr>
                <a:t>3-STAGE SMART FORENSICS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260336" y="2907792"/>
              <a:ext cx="1938527" cy="1490472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50" b="1" i="0">
                  <a:solidFill>
                    <a:srgbClr val="DCAD45"/>
                  </a:solidFill>
                  <a:latin typeface="Calibri"/>
                </a:rPr>
                <a:t>Acquire:</a:t>
              </a:r>
              <a:r>
                <a:rPr sz="1050" b="0" i="0">
                  <a:solidFill>
                    <a:srgbClr val="C9CDE3"/>
                  </a:solidFill>
                  <a:latin typeface="Calibri"/>
                </a:rPr>
                <a:t> $MFT, $UsnJrnl, SQLite WAL, F2FS, VBS RAM in &lt;3 min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50" b="1" i="0">
                  <a:solidFill>
                    <a:srgbClr val="DCAD45"/>
                  </a:solidFill>
                  <a:latin typeface="Calibri"/>
                </a:rPr>
                <a:t>Analyse:</a:t>
              </a:r>
              <a:r>
                <a:rPr sz="1050" b="0" i="0">
                  <a:solidFill>
                    <a:srgbClr val="C9CDE3"/>
                  </a:solidFill>
                  <a:latin typeface="Calibri"/>
                </a:rPr>
                <a:t> 7-bit INT8 triage at &gt;99% recall, symbolic check to &lt;0.5% FPR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50" b="1" i="0">
                  <a:solidFill>
                    <a:srgbClr val="DCAD45"/>
                  </a:solidFill>
                  <a:latin typeface="Calibri"/>
                </a:rPr>
                <a:t>Report:</a:t>
              </a:r>
              <a:r>
                <a:rPr sz="1050" b="0" i="0">
                  <a:solidFill>
                    <a:srgbClr val="C9CDE3"/>
                  </a:solidFill>
                  <a:latin typeface="Calibri"/>
                </a:rPr>
                <a:t> 1-click Sec. 63 BSA PDF/A-1b + FINnet 2.0 STR XML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60336" y="4425696"/>
              <a:ext cx="1938527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DCAD45"/>
                  </a:solidFill>
                  <a:latin typeface="Courier New"/>
                </a:rPr>
                <a:t>→ leads ≠ court proof</a:t>
              </a:r>
            </a:p>
          </p:txBody>
        </p:sp>
      </p:grpSp>
      <p:grpSp>
        <p:nvGrpSpPr>
          <p:cNvPr id="31" name="Card Custody bridge, 3 cases"/>
          <p:cNvGrpSpPr/>
          <p:nvPr/>
        </p:nvGrpSpPr>
        <p:grpSpPr>
          <a:xfrm>
            <a:off x="9436608" y="2304288"/>
            <a:ext cx="2162556" cy="2436876"/>
            <a:chOff x="9436608" y="2304288"/>
            <a:chExt cx="2162556" cy="2436876"/>
          </a:xfrm>
        </p:grpSpPr>
        <p:sp>
          <p:nvSpPr>
            <p:cNvPr id="32" name="Shadow"/>
            <p:cNvSpPr/>
            <p:nvPr/>
          </p:nvSpPr>
          <p:spPr>
            <a:xfrm>
              <a:off x="9477756" y="2345436"/>
              <a:ext cx="2121408" cy="2395728"/>
            </a:xfrm>
            <a:prstGeom prst="roundRect">
              <a:avLst>
                <a:gd name="adj" fmla="val 1724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Panel"/>
            <p:cNvSpPr/>
            <p:nvPr/>
          </p:nvSpPr>
          <p:spPr>
            <a:xfrm>
              <a:off x="9436608" y="2304288"/>
              <a:ext cx="2121408" cy="2395728"/>
            </a:xfrm>
            <a:prstGeom prst="roundRect">
              <a:avLst>
                <a:gd name="adj" fmla="val 1724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ag WHY IT'S UNIQUE"/>
            <p:cNvSpPr/>
            <p:nvPr/>
          </p:nvSpPr>
          <p:spPr>
            <a:xfrm>
              <a:off x="9546336" y="2404872"/>
              <a:ext cx="1060704" cy="201168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WHY IT'S UNIQUE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546336" y="2651760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CUSTODY BRIDGE, 3 CASES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546336" y="2907792"/>
              <a:ext cx="1938527" cy="17373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(A) Victim device: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owner signs Part A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(B) Seized device: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primary evidence, Sec. 57 Expl. 5 BSA; I.O. signs workstation Part A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(C) Bank / TSP: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Sec. 94 BNSS summons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50" b="1" i="0">
                  <a:solidFill>
                    <a:srgbClr val="151F3A"/>
                  </a:solidFill>
                  <a:latin typeface="Calibri"/>
                </a:rPr>
                <a:t>Part B = raw hex offsets,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checkable with </a:t>
              </a:r>
              <a:r>
                <a:rPr sz="950" b="1" i="0">
                  <a:solidFill>
                    <a:srgbClr val="2A3990"/>
                  </a:solidFill>
                  <a:latin typeface="Courier New"/>
                </a:rPr>
                <a:t>dd</a:t>
              </a:r>
              <a:r>
                <a:rPr sz="1050" b="0" i="0">
                  <a:solidFill>
                    <a:srgbClr val="151F3A"/>
                  </a:solidFill>
                  <a:latin typeface="Calibri"/>
                </a:rPr>
                <a:t> / </a:t>
              </a:r>
              <a:r>
                <a:rPr sz="950" b="1" i="0">
                  <a:solidFill>
                    <a:srgbClr val="2A3990"/>
                  </a:solidFill>
                  <a:latin typeface="Courier New"/>
                </a:rPr>
                <a:t>b3sum</a:t>
              </a:r>
            </a:p>
          </p:txBody>
        </p:sp>
      </p:grpSp>
      <p:grpSp>
        <p:nvGrpSpPr>
          <p:cNvPr id="37" name="Stat &gt;99%"/>
          <p:cNvGrpSpPr/>
          <p:nvPr/>
        </p:nvGrpSpPr>
        <p:grpSpPr>
          <a:xfrm>
            <a:off x="4864608" y="4828032"/>
            <a:ext cx="1604772" cy="512064"/>
            <a:chOff x="4864608" y="4828032"/>
            <a:chExt cx="1604772" cy="512064"/>
          </a:xfrm>
        </p:grpSpPr>
        <p:sp>
          <p:nvSpPr>
            <p:cNvPr id="38" name="Panel"/>
            <p:cNvSpPr/>
            <p:nvPr/>
          </p:nvSpPr>
          <p:spPr>
            <a:xfrm>
              <a:off x="4864608" y="4828032"/>
              <a:ext cx="1604772" cy="512064"/>
            </a:xfrm>
            <a:prstGeom prst="roundRect">
              <a:avLst>
                <a:gd name="adj" fmla="val 7142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37760" y="4828032"/>
              <a:ext cx="749808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500" b="1" i="0">
                  <a:solidFill>
                    <a:srgbClr val="2A3990"/>
                  </a:solidFill>
                  <a:latin typeface="Arial"/>
                </a:rPr>
                <a:t>&gt;99%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687568" y="4828032"/>
              <a:ext cx="745236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neural triage recall</a:t>
              </a:r>
            </a:p>
          </p:txBody>
        </p:sp>
      </p:grpSp>
      <p:grpSp>
        <p:nvGrpSpPr>
          <p:cNvPr id="41" name="Stat &lt;0.5%"/>
          <p:cNvGrpSpPr/>
          <p:nvPr/>
        </p:nvGrpSpPr>
        <p:grpSpPr>
          <a:xfrm>
            <a:off x="6560820" y="4828032"/>
            <a:ext cx="1604772" cy="512064"/>
            <a:chOff x="6560820" y="4828032"/>
            <a:chExt cx="1604772" cy="512064"/>
          </a:xfrm>
        </p:grpSpPr>
        <p:sp>
          <p:nvSpPr>
            <p:cNvPr id="42" name="Panel"/>
            <p:cNvSpPr/>
            <p:nvPr/>
          </p:nvSpPr>
          <p:spPr>
            <a:xfrm>
              <a:off x="6560820" y="4828032"/>
              <a:ext cx="1604772" cy="512064"/>
            </a:xfrm>
            <a:prstGeom prst="roundRect">
              <a:avLst>
                <a:gd name="adj" fmla="val 7142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633972" y="4828032"/>
              <a:ext cx="749808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500" b="1" i="0">
                  <a:solidFill>
                    <a:srgbClr val="C2536F"/>
                  </a:solidFill>
                  <a:latin typeface="Arial"/>
                </a:rPr>
                <a:t>&lt;0.5%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83780" y="4828032"/>
              <a:ext cx="745236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false positives after symbolic check</a:t>
              </a:r>
            </a:p>
          </p:txBody>
        </p:sp>
      </p:grpSp>
      <p:grpSp>
        <p:nvGrpSpPr>
          <p:cNvPr id="45" name="Stat 100%"/>
          <p:cNvGrpSpPr/>
          <p:nvPr/>
        </p:nvGrpSpPr>
        <p:grpSpPr>
          <a:xfrm>
            <a:off x="8257032" y="4828032"/>
            <a:ext cx="1604772" cy="512064"/>
            <a:chOff x="8257032" y="4828032"/>
            <a:chExt cx="1604772" cy="512064"/>
          </a:xfrm>
        </p:grpSpPr>
        <p:sp>
          <p:nvSpPr>
            <p:cNvPr id="46" name="Panel"/>
            <p:cNvSpPr/>
            <p:nvPr/>
          </p:nvSpPr>
          <p:spPr>
            <a:xfrm>
              <a:off x="8257032" y="4828032"/>
              <a:ext cx="1604772" cy="512064"/>
            </a:xfrm>
            <a:prstGeom prst="roundRect">
              <a:avLst>
                <a:gd name="adj" fmla="val 7142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30184" y="4828032"/>
              <a:ext cx="749808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500" b="1" i="0">
                  <a:solidFill>
                    <a:srgbClr val="2A3990"/>
                  </a:solidFill>
                  <a:latin typeface="Arial"/>
                </a:rPr>
                <a:t>100%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79992" y="4828032"/>
              <a:ext cx="745236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findings pinned to raw byte offsets</a:t>
              </a:r>
            </a:p>
          </p:txBody>
        </p:sp>
      </p:grpSp>
      <p:grpSp>
        <p:nvGrpSpPr>
          <p:cNvPr id="49" name="Stat &lt;3 min"/>
          <p:cNvGrpSpPr/>
          <p:nvPr/>
        </p:nvGrpSpPr>
        <p:grpSpPr>
          <a:xfrm>
            <a:off x="9953244" y="4828032"/>
            <a:ext cx="1604772" cy="512064"/>
            <a:chOff x="9953244" y="4828032"/>
            <a:chExt cx="1604772" cy="512064"/>
          </a:xfrm>
        </p:grpSpPr>
        <p:sp>
          <p:nvSpPr>
            <p:cNvPr id="50" name="Panel"/>
            <p:cNvSpPr/>
            <p:nvPr/>
          </p:nvSpPr>
          <p:spPr>
            <a:xfrm>
              <a:off x="9953244" y="4828032"/>
              <a:ext cx="1604772" cy="512064"/>
            </a:xfrm>
            <a:prstGeom prst="roundRect">
              <a:avLst>
                <a:gd name="adj" fmla="val 7142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026396" y="4828032"/>
              <a:ext cx="749808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500" b="1" i="0">
                  <a:solidFill>
                    <a:srgbClr val="C2536F"/>
                  </a:solidFill>
                  <a:latin typeface="Arial"/>
                </a:rPr>
                <a:t>&lt;3 min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776204" y="4828032"/>
              <a:ext cx="745236" cy="51206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Phase-1 volatile triage</a:t>
              </a:r>
            </a:p>
          </p:txBody>
        </p:sp>
      </p:grpSp>
      <p:grpSp>
        <p:nvGrpSpPr>
          <p:cNvPr id="53" name="Banner"/>
          <p:cNvGrpSpPr/>
          <p:nvPr/>
        </p:nvGrpSpPr>
        <p:grpSpPr>
          <a:xfrm>
            <a:off x="4864608" y="5468112"/>
            <a:ext cx="6693408" cy="621792"/>
            <a:chOff x="4864608" y="5468112"/>
            <a:chExt cx="6693408" cy="621792"/>
          </a:xfrm>
        </p:grpSpPr>
        <p:sp>
          <p:nvSpPr>
            <p:cNvPr id="54" name="Panel"/>
            <p:cNvSpPr/>
            <p:nvPr/>
          </p:nvSpPr>
          <p:spPr>
            <a:xfrm>
              <a:off x="4864608" y="5468112"/>
              <a:ext cx="6693408" cy="621792"/>
            </a:xfrm>
            <a:prstGeom prst="roundRect">
              <a:avLst>
                <a:gd name="adj" fmla="val 5882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992624" y="5468112"/>
              <a:ext cx="6437376" cy="621792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100"/>
                </a:spcAft>
              </a:pPr>
              <a:r>
                <a:rPr sz="1050" b="1" i="0">
                  <a:solidFill>
                    <a:srgbClr val="DCAD45"/>
                  </a:solidFill>
                  <a:latin typeface="Calibri"/>
                </a:rPr>
                <a:t>BEFORE</a:t>
              </a:r>
              <a:r>
                <a:rPr sz="1050" b="0" i="0">
                  <a:solidFill>
                    <a:srgbClr val="FFFFFF"/>
                  </a:solidFill>
                  <a:latin typeface="Calibri"/>
                </a:rPr>
                <a:t>  14–21 days manual carving  →  </a:t>
              </a:r>
              <a:r>
                <a:rPr sz="1050" b="1" i="0">
                  <a:solidFill>
                    <a:srgbClr val="DCAD45"/>
                  </a:solidFill>
                  <a:latin typeface="Calibri"/>
                </a:rPr>
                <a:t>NOW</a:t>
              </a:r>
              <a:r>
                <a:rPr sz="1050" b="0" i="0">
                  <a:solidFill>
                    <a:srgbClr val="FFFFFF"/>
                  </a:solidFill>
                  <a:latin typeface="Calibri"/>
                </a:rPr>
                <a:t>  &lt;3-min Phase-1 triage  →  </a:t>
              </a:r>
              <a:r>
                <a:rPr sz="1050" b="1" i="0">
                  <a:solidFill>
                    <a:srgbClr val="DCAD45"/>
                  </a:solidFill>
                  <a:latin typeface="Calibri"/>
                </a:rPr>
                <a:t>OUTPUT</a:t>
              </a:r>
              <a:r>
                <a:rPr sz="1050" b="0" i="0">
                  <a:solidFill>
                    <a:srgbClr val="FFFFFF"/>
                  </a:solidFill>
                  <a:latin typeface="Calibri"/>
                </a:rPr>
                <a:t>  Sec. 63 BSA dossier</a:t>
              </a:r>
            </a:p>
            <a:p>
              <a:pPr algn="l">
                <a:spcAft>
                  <a:spcPts val="100"/>
                </a:spcAft>
              </a:pPr>
              <a:r>
                <a:rPr sz="1050" b="1" i="0">
                  <a:solidFill>
                    <a:srgbClr val="C2536F"/>
                  </a:solidFill>
                  <a:latin typeface="Calibri"/>
                </a:rPr>
                <a:t>BRIDGE</a:t>
              </a:r>
              <a:r>
                <a:rPr sz="1050" b="0" i="0">
                  <a:solidFill>
                    <a:srgbClr val="FFFFFF"/>
                  </a:solidFill>
                  <a:latin typeface="Calibri"/>
                </a:rPr>
                <a:t>  neural recall + deterministic byte-offset proof = one engine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TECHNICAL APPROACH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1F709E"/>
              </a:buClr>
              <a:buFont typeface="Segoe UI Symbol"/>
              <a:buChar char="▸"/>
            </a:pPr>
            <a:r>
              <a:rPr sz="1400" b="1" i="0">
                <a:solidFill>
                  <a:srgbClr val="17334A"/>
                </a:solidFill>
                <a:latin typeface="Calibri"/>
              </a:rPr>
              <a:t>  Technologies to be used (e.g. programming languages, frameworks, hardware)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Methodology and process for implementation (flow charts / images / working prototype)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YOUR TECHNICAL APPROACH  —  diagrams and screenshots welcome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Four engines turn raw silicon into verifiable leads.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04</a:t>
            </a:r>
          </a:p>
        </p:txBody>
      </p:sp>
      <p:grpSp>
        <p:nvGrpSpPr>
          <p:cNvPr id="18" name="Stage 01"/>
          <p:cNvGrpSpPr/>
          <p:nvPr/>
        </p:nvGrpSpPr>
        <p:grpSpPr>
          <a:xfrm>
            <a:off x="4864608" y="2304288"/>
            <a:ext cx="1508760" cy="566928"/>
            <a:chOff x="4864608" y="2304288"/>
            <a:chExt cx="1508760" cy="566928"/>
          </a:xfrm>
        </p:grpSpPr>
        <p:sp>
          <p:nvSpPr>
            <p:cNvPr id="19" name="Panel"/>
            <p:cNvSpPr/>
            <p:nvPr/>
          </p:nvSpPr>
          <p:spPr>
            <a:xfrm>
              <a:off x="4864608" y="2304288"/>
              <a:ext cx="1508760" cy="566928"/>
            </a:xfrm>
            <a:prstGeom prst="roundRect">
              <a:avLst>
                <a:gd name="adj" fmla="val 6451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ag 01"/>
            <p:cNvSpPr/>
            <p:nvPr/>
          </p:nvSpPr>
          <p:spPr>
            <a:xfrm>
              <a:off x="4937760" y="2368296"/>
              <a:ext cx="268224" cy="182880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01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48656" y="2359152"/>
              <a:ext cx="1088136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151F3A"/>
                  </a:solidFill>
                  <a:latin typeface="Arial"/>
                </a:rPr>
                <a:t>INGESTION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37760" y="2596896"/>
              <a:ext cx="1399032" cy="23774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0" i="0">
                  <a:solidFill>
                    <a:srgbClr val="5B6070"/>
                  </a:solidFill>
                  <a:latin typeface="Calibri"/>
                </a:rPr>
                <a:t>eBPF · VBS RAM · F2FS · 1-PPS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373368" y="2414016"/>
            <a:ext cx="21945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51F3A"/>
                </a:solidFill>
                <a:latin typeface="Arial"/>
              </a:rPr>
              <a:t>→</a:t>
            </a:r>
          </a:p>
        </p:txBody>
      </p:sp>
      <p:grpSp>
        <p:nvGrpSpPr>
          <p:cNvPr id="24" name="Stage 02"/>
          <p:cNvGrpSpPr/>
          <p:nvPr/>
        </p:nvGrpSpPr>
        <p:grpSpPr>
          <a:xfrm>
            <a:off x="6592824" y="2304288"/>
            <a:ext cx="1508760" cy="566928"/>
            <a:chOff x="6592824" y="2304288"/>
            <a:chExt cx="1508760" cy="566928"/>
          </a:xfrm>
        </p:grpSpPr>
        <p:sp>
          <p:nvSpPr>
            <p:cNvPr id="25" name="Panel"/>
            <p:cNvSpPr/>
            <p:nvPr/>
          </p:nvSpPr>
          <p:spPr>
            <a:xfrm>
              <a:off x="6592824" y="2304288"/>
              <a:ext cx="1508760" cy="566928"/>
            </a:xfrm>
            <a:prstGeom prst="roundRect">
              <a:avLst>
                <a:gd name="adj" fmla="val 6451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ag 02"/>
            <p:cNvSpPr/>
            <p:nvPr/>
          </p:nvSpPr>
          <p:spPr>
            <a:xfrm>
              <a:off x="6665976" y="2368296"/>
              <a:ext cx="268224" cy="182880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02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76872" y="2359152"/>
              <a:ext cx="1088136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151F3A"/>
                  </a:solidFill>
                  <a:latin typeface="Arial"/>
                </a:rPr>
                <a:t>NEURAL TRIAGE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65976" y="2596896"/>
              <a:ext cx="1399032" cy="23774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0" i="0">
                  <a:solidFill>
                    <a:srgbClr val="5B6070"/>
                  </a:solidFill>
                  <a:latin typeface="Calibri"/>
                </a:rPr>
                <a:t>deepfake · RingRTC · APK · DeFi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8101584" y="2414016"/>
            <a:ext cx="21945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51F3A"/>
                </a:solidFill>
                <a:latin typeface="Arial"/>
              </a:rPr>
              <a:t>→</a:t>
            </a:r>
          </a:p>
        </p:txBody>
      </p:sp>
      <p:grpSp>
        <p:nvGrpSpPr>
          <p:cNvPr id="30" name="Stage 03"/>
          <p:cNvGrpSpPr/>
          <p:nvPr/>
        </p:nvGrpSpPr>
        <p:grpSpPr>
          <a:xfrm>
            <a:off x="8321040" y="2304288"/>
            <a:ext cx="1508760" cy="566928"/>
            <a:chOff x="8321040" y="2304288"/>
            <a:chExt cx="1508760" cy="566928"/>
          </a:xfrm>
        </p:grpSpPr>
        <p:sp>
          <p:nvSpPr>
            <p:cNvPr id="31" name="Panel"/>
            <p:cNvSpPr/>
            <p:nvPr/>
          </p:nvSpPr>
          <p:spPr>
            <a:xfrm>
              <a:off x="8321040" y="2304288"/>
              <a:ext cx="1508760" cy="566928"/>
            </a:xfrm>
            <a:prstGeom prst="roundRect">
              <a:avLst>
                <a:gd name="adj" fmla="val 6451"/>
              </a:avLst>
            </a:prstGeom>
            <a:solidFill>
              <a:srgbClr val="CDD0E6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ag 03"/>
            <p:cNvSpPr/>
            <p:nvPr/>
          </p:nvSpPr>
          <p:spPr>
            <a:xfrm>
              <a:off x="8394192" y="2368296"/>
              <a:ext cx="268224" cy="182880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03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705088" y="2359152"/>
              <a:ext cx="1088136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151F3A"/>
                  </a:solidFill>
                  <a:latin typeface="Arial"/>
                </a:rPr>
                <a:t>T-PKG GRAPH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394192" y="2596896"/>
              <a:ext cx="1399032" cy="23774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0" i="0">
                  <a:solidFill>
                    <a:srgbClr val="5B6070"/>
                  </a:solidFill>
                  <a:latin typeface="Calibri"/>
                </a:rPr>
                <a:t>harmonic GRU + PCST (next)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9829800" y="2414016"/>
            <a:ext cx="219456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51F3A"/>
                </a:solidFill>
                <a:latin typeface="Arial"/>
              </a:rPr>
              <a:t>→</a:t>
            </a:r>
          </a:p>
        </p:txBody>
      </p:sp>
      <p:grpSp>
        <p:nvGrpSpPr>
          <p:cNvPr id="36" name="Stage 04"/>
          <p:cNvGrpSpPr/>
          <p:nvPr/>
        </p:nvGrpSpPr>
        <p:grpSpPr>
          <a:xfrm>
            <a:off x="10049256" y="2304288"/>
            <a:ext cx="1508760" cy="566928"/>
            <a:chOff x="10049256" y="2304288"/>
            <a:chExt cx="1508760" cy="566928"/>
          </a:xfrm>
        </p:grpSpPr>
        <p:sp>
          <p:nvSpPr>
            <p:cNvPr id="37" name="Panel"/>
            <p:cNvSpPr/>
            <p:nvPr/>
          </p:nvSpPr>
          <p:spPr>
            <a:xfrm>
              <a:off x="10049256" y="2304288"/>
              <a:ext cx="1508760" cy="566928"/>
            </a:xfrm>
            <a:prstGeom prst="roundRect">
              <a:avLst>
                <a:gd name="adj" fmla="val 6451"/>
              </a:avLst>
            </a:prstGeom>
            <a:solidFill>
              <a:srgbClr val="CDD0E6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ag 04"/>
            <p:cNvSpPr/>
            <p:nvPr/>
          </p:nvSpPr>
          <p:spPr>
            <a:xfrm>
              <a:off x="10122408" y="2368296"/>
              <a:ext cx="268224" cy="182880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04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433304" y="2359152"/>
              <a:ext cx="1088136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151F3A"/>
                  </a:solidFill>
                  <a:latin typeface="Arial"/>
                </a:rPr>
                <a:t>LEGAL DOSSIER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122408" y="2596896"/>
              <a:ext cx="1399032" cy="23774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0" i="0">
                  <a:solidFill>
                    <a:srgbClr val="5B6070"/>
                  </a:solidFill>
                  <a:latin typeface="Calibri"/>
                </a:rPr>
                <a:t>Sec. 63 BSA · BNSS (next)</a:t>
              </a:r>
            </a:p>
          </p:txBody>
        </p:sp>
      </p:grpSp>
      <p:grpSp>
        <p:nvGrpSpPr>
          <p:cNvPr id="41" name="Card Kernel ingestion vault"/>
          <p:cNvGrpSpPr/>
          <p:nvPr/>
        </p:nvGrpSpPr>
        <p:grpSpPr>
          <a:xfrm>
            <a:off x="4864608" y="2999232"/>
            <a:ext cx="3305556" cy="2372867"/>
            <a:chOff x="4864608" y="2999232"/>
            <a:chExt cx="3305556" cy="2372867"/>
          </a:xfrm>
        </p:grpSpPr>
        <p:sp>
          <p:nvSpPr>
            <p:cNvPr id="42" name="Shadow"/>
            <p:cNvSpPr/>
            <p:nvPr/>
          </p:nvSpPr>
          <p:spPr>
            <a:xfrm>
              <a:off x="4905756" y="3040379"/>
              <a:ext cx="3264408" cy="2331720"/>
            </a:xfrm>
            <a:prstGeom prst="roundRect">
              <a:avLst>
                <a:gd name="adj" fmla="val 1568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anel"/>
            <p:cNvSpPr/>
            <p:nvPr/>
          </p:nvSpPr>
          <p:spPr>
            <a:xfrm>
              <a:off x="4864608" y="2999232"/>
              <a:ext cx="3264408" cy="2331720"/>
            </a:xfrm>
            <a:prstGeom prst="roundRect">
              <a:avLst>
                <a:gd name="adj" fmla="val 1568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ag PILLAR 1 · RUST / GO / eBPF"/>
            <p:cNvSpPr/>
            <p:nvPr/>
          </p:nvSpPr>
          <p:spPr>
            <a:xfrm>
              <a:off x="4974336" y="3099815"/>
              <a:ext cx="1792224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PILLAR 1 · RUST / GO / eBPF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974336" y="3346703"/>
              <a:ext cx="3063240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KERNEL INGESTION VAULT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74336" y="3602736"/>
              <a:ext cx="3081528" cy="1426463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eBPF write/TRIM blocker: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NVMe 0x09 TRIM + APST=0; SCSI 0x2A / 0x42 UNMAP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VBS/HVCI-safe Win 11 RAM: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SysDbg 37 dump, BitLocker FVEK, TPM2_Quote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Android 14+ F2FS carver: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gc_urgent=0, CP1/CP2 diff, orphan 0xF2F5 inodes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Integrity: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SIMD BLAKE3 Merkle + piecewise valid-extent SHA-256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74336" y="5056632"/>
              <a:ext cx="3081528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</a:rPr>
                <a:t>→ 0 bytes written to evidence</a:t>
              </a:r>
            </a:p>
          </p:txBody>
        </p:sp>
      </p:grpSp>
      <p:grpSp>
        <p:nvGrpSpPr>
          <p:cNvPr id="48" name="Card Multi-modal neural triage"/>
          <p:cNvGrpSpPr/>
          <p:nvPr/>
        </p:nvGrpSpPr>
        <p:grpSpPr>
          <a:xfrm>
            <a:off x="8293608" y="2999232"/>
            <a:ext cx="3305556" cy="2372867"/>
            <a:chOff x="8293608" y="2999232"/>
            <a:chExt cx="3305556" cy="2372867"/>
          </a:xfrm>
        </p:grpSpPr>
        <p:sp>
          <p:nvSpPr>
            <p:cNvPr id="49" name="Shadow"/>
            <p:cNvSpPr/>
            <p:nvPr/>
          </p:nvSpPr>
          <p:spPr>
            <a:xfrm>
              <a:off x="8334756" y="3040379"/>
              <a:ext cx="3264408" cy="2331720"/>
            </a:xfrm>
            <a:prstGeom prst="roundRect">
              <a:avLst>
                <a:gd name="adj" fmla="val 1568"/>
              </a:avLst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Panel"/>
            <p:cNvSpPr/>
            <p:nvPr/>
          </p:nvSpPr>
          <p:spPr>
            <a:xfrm>
              <a:off x="8293608" y="2999232"/>
              <a:ext cx="3264408" cy="2331720"/>
            </a:xfrm>
            <a:prstGeom prst="roundRect">
              <a:avLst>
                <a:gd name="adj" fmla="val 1568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ag PILLAR 2 · PYTHON / ONNX INT8"/>
            <p:cNvSpPr/>
            <p:nvPr/>
          </p:nvSpPr>
          <p:spPr>
            <a:xfrm>
              <a:off x="8403336" y="3099815"/>
              <a:ext cx="1914144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PILLAR 2 · PYTHON / ONNX INT8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403336" y="3346703"/>
              <a:ext cx="3063240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Arial"/>
                </a:rPr>
                <a:t>MULTI-MODAL NEURAL TRIAGE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403336" y="3602736"/>
              <a:ext cx="3081528" cy="1426463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Deepfake physiology: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jaw→forehead PTT lag 12–45 ms; shaders show ≈ 0 ms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Windkessel + VAE: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dicrotic ratio 0.15–0.48; KL-VAE lattice spike &gt; 2.45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WhatsApp RingRTC carver: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srflx IP:port → Sec. 94 BNSS IPDR notice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SecBERT LOLBins + polyglot lattice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for JPEG+ZIP+DEX chimeras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403336" y="5056632"/>
              <a:ext cx="3081528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DCAD45"/>
                  </a:solidFill>
                  <a:latin typeface="Courier New"/>
                </a:rPr>
                <a:t>→ ranked leads at &gt;99% recall</a:t>
              </a:r>
            </a:p>
          </p:txBody>
        </p:sp>
      </p:grpSp>
      <p:grpSp>
        <p:nvGrpSpPr>
          <p:cNvPr id="55" name="Stack"/>
          <p:cNvGrpSpPr/>
          <p:nvPr/>
        </p:nvGrpSpPr>
        <p:grpSpPr>
          <a:xfrm>
            <a:off x="4864608" y="5468112"/>
            <a:ext cx="6693408" cy="621792"/>
            <a:chOff x="4864608" y="5468112"/>
            <a:chExt cx="6693408" cy="621792"/>
          </a:xfrm>
        </p:grpSpPr>
        <p:sp>
          <p:nvSpPr>
            <p:cNvPr id="56" name="Panel"/>
            <p:cNvSpPr/>
            <p:nvPr/>
          </p:nvSpPr>
          <p:spPr>
            <a:xfrm>
              <a:off x="4864608" y="5468112"/>
              <a:ext cx="6693408" cy="621792"/>
            </a:xfrm>
            <a:prstGeom prst="roundRect">
              <a:avLst>
                <a:gd name="adj" fmla="val 5882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956048" y="5513832"/>
              <a:ext cx="822960" cy="219456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</a:rPr>
                <a:t>STACK</a:t>
              </a:r>
            </a:p>
          </p:txBody>
        </p:sp>
        <p:sp>
          <p:nvSpPr>
            <p:cNvPr id="58" name="Tag Rust"/>
            <p:cNvSpPr/>
            <p:nvPr/>
          </p:nvSpPr>
          <p:spPr>
            <a:xfrm>
              <a:off x="5779008" y="5532120"/>
              <a:ext cx="39014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Rust</a:t>
              </a:r>
            </a:p>
          </p:txBody>
        </p:sp>
        <p:sp>
          <p:nvSpPr>
            <p:cNvPr id="59" name="Tag Go"/>
            <p:cNvSpPr/>
            <p:nvPr/>
          </p:nvSpPr>
          <p:spPr>
            <a:xfrm>
              <a:off x="6214872" y="5532120"/>
              <a:ext cx="26822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Go</a:t>
              </a:r>
            </a:p>
          </p:txBody>
        </p:sp>
        <p:sp>
          <p:nvSpPr>
            <p:cNvPr id="60" name="Tag Wasmtime"/>
            <p:cNvSpPr/>
            <p:nvPr/>
          </p:nvSpPr>
          <p:spPr>
            <a:xfrm>
              <a:off x="6528816" y="5532120"/>
              <a:ext cx="63398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Wasmtime</a:t>
              </a:r>
            </a:p>
          </p:txBody>
        </p:sp>
        <p:sp>
          <p:nvSpPr>
            <p:cNvPr id="61" name="Tag eBPF"/>
            <p:cNvSpPr/>
            <p:nvPr/>
          </p:nvSpPr>
          <p:spPr>
            <a:xfrm>
              <a:off x="7208520" y="5532120"/>
              <a:ext cx="39014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eBPF</a:t>
              </a:r>
            </a:p>
          </p:txBody>
        </p:sp>
        <p:sp>
          <p:nvSpPr>
            <p:cNvPr id="62" name="Tag PyTorch"/>
            <p:cNvSpPr/>
            <p:nvPr/>
          </p:nvSpPr>
          <p:spPr>
            <a:xfrm>
              <a:off x="7644384" y="5532120"/>
              <a:ext cx="57302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PyTorch</a:t>
              </a:r>
            </a:p>
          </p:txBody>
        </p:sp>
        <p:sp>
          <p:nvSpPr>
            <p:cNvPr id="63" name="Tag ONNX INT8"/>
            <p:cNvSpPr/>
            <p:nvPr/>
          </p:nvSpPr>
          <p:spPr>
            <a:xfrm>
              <a:off x="8263128" y="5532120"/>
              <a:ext cx="69494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ONNX INT8</a:t>
              </a:r>
            </a:p>
          </p:txBody>
        </p:sp>
        <p:sp>
          <p:nvSpPr>
            <p:cNvPr id="64" name="Tag Q16.16 LUT"/>
            <p:cNvSpPr/>
            <p:nvPr/>
          </p:nvSpPr>
          <p:spPr>
            <a:xfrm>
              <a:off x="9003792" y="5532120"/>
              <a:ext cx="75590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Q16.16 LUT</a:t>
              </a:r>
            </a:p>
          </p:txBody>
        </p:sp>
        <p:sp>
          <p:nvSpPr>
            <p:cNvPr id="65" name="Tag BLAKE3"/>
            <p:cNvSpPr/>
            <p:nvPr/>
          </p:nvSpPr>
          <p:spPr>
            <a:xfrm>
              <a:off x="9805416" y="5532120"/>
              <a:ext cx="51206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BLAKE3</a:t>
              </a:r>
            </a:p>
          </p:txBody>
        </p:sp>
        <p:sp>
          <p:nvSpPr>
            <p:cNvPr id="66" name="Tag Streamlit"/>
            <p:cNvSpPr/>
            <p:nvPr/>
          </p:nvSpPr>
          <p:spPr>
            <a:xfrm>
              <a:off x="10363200" y="5532120"/>
              <a:ext cx="694944" cy="19202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Streamlit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56048" y="5797296"/>
              <a:ext cx="822960" cy="219456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</a:rPr>
                <a:t>HARDWARE</a:t>
              </a:r>
            </a:p>
          </p:txBody>
        </p:sp>
        <p:sp>
          <p:nvSpPr>
            <p:cNvPr id="68" name="Tag 16 GB CPU-only LEA laptop"/>
            <p:cNvSpPr/>
            <p:nvPr/>
          </p:nvSpPr>
          <p:spPr>
            <a:xfrm>
              <a:off x="5779008" y="5815584"/>
              <a:ext cx="1670304" cy="192024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16 GB CPU-only LEA laptop</a:t>
              </a:r>
            </a:p>
          </p:txBody>
        </p:sp>
        <p:sp>
          <p:nvSpPr>
            <p:cNvPr id="69" name="Tag NavIC / GPS 1-PPS receiver"/>
            <p:cNvSpPr/>
            <p:nvPr/>
          </p:nvSpPr>
          <p:spPr>
            <a:xfrm>
              <a:off x="7495032" y="5815584"/>
              <a:ext cx="1731264" cy="192024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NavIC / GPS 1-PPS receiver</a:t>
              </a:r>
            </a:p>
          </p:txBody>
        </p:sp>
        <p:sp>
          <p:nvSpPr>
            <p:cNvPr id="70" name="Tag Faraday seizure bags"/>
            <p:cNvSpPr/>
            <p:nvPr/>
          </p:nvSpPr>
          <p:spPr>
            <a:xfrm>
              <a:off x="9272016" y="5815584"/>
              <a:ext cx="1365503" cy="192024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Faraday seizure bags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TECHNICAL APPROACH (contd.)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Technologies to be used (e.g. programming languages, frameworks, hardware)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1F709E"/>
              </a:buClr>
              <a:buFont typeface="Segoe UI Symbol"/>
              <a:buChar char="▸"/>
            </a:pPr>
            <a:r>
              <a:rPr sz="1400" b="1" i="0">
                <a:solidFill>
                  <a:srgbClr val="17334A"/>
                </a:solidFill>
                <a:latin typeface="Calibri"/>
              </a:rPr>
              <a:t>  Methodology and process for implementation (flow charts / images / working prototype)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YOUR TECHNICAL APPROACH  —  diagrams and screenshots welcome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From seizure seal to court certificate, in one cockpit.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05</a:t>
            </a:r>
          </a:p>
        </p:txBody>
      </p:sp>
      <p:grpSp>
        <p:nvGrpSpPr>
          <p:cNvPr id="18" name="Step 01 INGEST"/>
          <p:cNvGrpSpPr/>
          <p:nvPr/>
        </p:nvGrpSpPr>
        <p:grpSpPr>
          <a:xfrm>
            <a:off x="4864608" y="2304288"/>
            <a:ext cx="1284732" cy="955548"/>
            <a:chOff x="4864608" y="2304288"/>
            <a:chExt cx="1284732" cy="955548"/>
          </a:xfrm>
        </p:grpSpPr>
        <p:sp>
          <p:nvSpPr>
            <p:cNvPr id="19" name="Shadow"/>
            <p:cNvSpPr/>
            <p:nvPr/>
          </p:nvSpPr>
          <p:spPr>
            <a:xfrm>
              <a:off x="4905756" y="2345436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anel"/>
            <p:cNvSpPr/>
            <p:nvPr/>
          </p:nvSpPr>
          <p:spPr>
            <a:xfrm>
              <a:off x="4864608" y="2304288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ag 01 INGEST"/>
            <p:cNvSpPr/>
            <p:nvPr/>
          </p:nvSpPr>
          <p:spPr>
            <a:xfrm>
              <a:off x="4937760" y="2377440"/>
              <a:ext cx="660654" cy="182880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DCAD45"/>
                  </a:solidFill>
                  <a:latin typeface="Courier New"/>
                </a:rPr>
                <a:t>01 INGEST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37760" y="2596896"/>
              <a:ext cx="1133856" cy="38404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Write-blocked image + seizure video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7760" y="2999232"/>
              <a:ext cx="1133856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R_case root</a:t>
              </a:r>
            </a:p>
          </p:txBody>
        </p:sp>
      </p:grpSp>
      <p:grpSp>
        <p:nvGrpSpPr>
          <p:cNvPr id="24" name="Step 02 TRIAGE"/>
          <p:cNvGrpSpPr/>
          <p:nvPr/>
        </p:nvGrpSpPr>
        <p:grpSpPr>
          <a:xfrm>
            <a:off x="6227064" y="2304288"/>
            <a:ext cx="1284732" cy="955548"/>
            <a:chOff x="6227064" y="2304288"/>
            <a:chExt cx="1284732" cy="955548"/>
          </a:xfrm>
        </p:grpSpPr>
        <p:sp>
          <p:nvSpPr>
            <p:cNvPr id="25" name="Shadow"/>
            <p:cNvSpPr/>
            <p:nvPr/>
          </p:nvSpPr>
          <p:spPr>
            <a:xfrm>
              <a:off x="6268212" y="2345436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anel"/>
            <p:cNvSpPr/>
            <p:nvPr/>
          </p:nvSpPr>
          <p:spPr>
            <a:xfrm>
              <a:off x="6227064" y="2304288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ag 02 TRIAGE"/>
            <p:cNvSpPr/>
            <p:nvPr/>
          </p:nvSpPr>
          <p:spPr>
            <a:xfrm>
              <a:off x="6300216" y="2377440"/>
              <a:ext cx="660654" cy="182880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151F3A"/>
                  </a:solidFill>
                  <a:latin typeface="Courier New"/>
                </a:rPr>
                <a:t>02 TRIAGE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00216" y="2596896"/>
              <a:ext cx="1133856" cy="38404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INT8 deepfake, VoIP, APK, LOLBin scans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00216" y="2999232"/>
              <a:ext cx="1133856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ranked leads</a:t>
              </a:r>
            </a:p>
          </p:txBody>
        </p:sp>
      </p:grpSp>
      <p:grpSp>
        <p:nvGrpSpPr>
          <p:cNvPr id="30" name="Step 03 CORRELATE"/>
          <p:cNvGrpSpPr/>
          <p:nvPr/>
        </p:nvGrpSpPr>
        <p:grpSpPr>
          <a:xfrm>
            <a:off x="7589520" y="2304288"/>
            <a:ext cx="1284732" cy="955548"/>
            <a:chOff x="7589520" y="2304288"/>
            <a:chExt cx="1284732" cy="955548"/>
          </a:xfrm>
        </p:grpSpPr>
        <p:sp>
          <p:nvSpPr>
            <p:cNvPr id="31" name="Shadow"/>
            <p:cNvSpPr/>
            <p:nvPr/>
          </p:nvSpPr>
          <p:spPr>
            <a:xfrm>
              <a:off x="7630668" y="2345436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Panel"/>
            <p:cNvSpPr/>
            <p:nvPr/>
          </p:nvSpPr>
          <p:spPr>
            <a:xfrm>
              <a:off x="7589520" y="2304288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ag 03 CORRELATE"/>
            <p:cNvSpPr/>
            <p:nvPr/>
          </p:nvSpPr>
          <p:spPr>
            <a:xfrm>
              <a:off x="7662672" y="2377440"/>
              <a:ext cx="832104" cy="182880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FFFFFF"/>
                  </a:solidFill>
                  <a:latin typeface="Courier New"/>
                </a:rPr>
                <a:t>03 CORRELATE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62672" y="2596896"/>
              <a:ext cx="1133856" cy="38404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T-PKG graph + PCST storyline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662672" y="2999232"/>
              <a:ext cx="1133856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attack graph</a:t>
              </a:r>
            </a:p>
          </p:txBody>
        </p:sp>
      </p:grpSp>
      <p:grpSp>
        <p:nvGrpSpPr>
          <p:cNvPr id="36" name="Step 04 REVIEW"/>
          <p:cNvGrpSpPr/>
          <p:nvPr/>
        </p:nvGrpSpPr>
        <p:grpSpPr>
          <a:xfrm>
            <a:off x="8951976" y="2304288"/>
            <a:ext cx="1284732" cy="955548"/>
            <a:chOff x="8951976" y="2304288"/>
            <a:chExt cx="1284732" cy="955548"/>
          </a:xfrm>
        </p:grpSpPr>
        <p:sp>
          <p:nvSpPr>
            <p:cNvPr id="37" name="Shadow"/>
            <p:cNvSpPr/>
            <p:nvPr/>
          </p:nvSpPr>
          <p:spPr>
            <a:xfrm>
              <a:off x="8993124" y="2345436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anel"/>
            <p:cNvSpPr/>
            <p:nvPr/>
          </p:nvSpPr>
          <p:spPr>
            <a:xfrm>
              <a:off x="8951976" y="2304288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ag 04 REVIEW"/>
            <p:cNvSpPr/>
            <p:nvPr/>
          </p:nvSpPr>
          <p:spPr>
            <a:xfrm>
              <a:off x="9025128" y="2377440"/>
              <a:ext cx="660654" cy="182880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151F3A"/>
                  </a:solidFill>
                  <a:latin typeface="Courier New"/>
                </a:rPr>
                <a:t>04 REVIEW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025128" y="2596896"/>
              <a:ext cx="1133856" cy="38404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Analyst + 14-point exculpatory check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025128" y="2999232"/>
              <a:ext cx="1133856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audit ledger</a:t>
              </a:r>
            </a:p>
          </p:txBody>
        </p:sp>
      </p:grpSp>
      <p:grpSp>
        <p:nvGrpSpPr>
          <p:cNvPr id="42" name="Step 05 DOSSIER"/>
          <p:cNvGrpSpPr/>
          <p:nvPr/>
        </p:nvGrpSpPr>
        <p:grpSpPr>
          <a:xfrm>
            <a:off x="10314432" y="2304288"/>
            <a:ext cx="1284732" cy="955548"/>
            <a:chOff x="10314432" y="2304288"/>
            <a:chExt cx="1284732" cy="955548"/>
          </a:xfrm>
        </p:grpSpPr>
        <p:sp>
          <p:nvSpPr>
            <p:cNvPr id="43" name="Shadow"/>
            <p:cNvSpPr/>
            <p:nvPr/>
          </p:nvSpPr>
          <p:spPr>
            <a:xfrm>
              <a:off x="10355580" y="2345436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anel"/>
            <p:cNvSpPr/>
            <p:nvPr/>
          </p:nvSpPr>
          <p:spPr>
            <a:xfrm>
              <a:off x="10314432" y="2304288"/>
              <a:ext cx="1243584" cy="914400"/>
            </a:xfrm>
            <a:prstGeom prst="roundRect">
              <a:avLst>
                <a:gd name="adj" fmla="val 4000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ag 05 DOSSIER"/>
            <p:cNvSpPr/>
            <p:nvPr/>
          </p:nvSpPr>
          <p:spPr>
            <a:xfrm>
              <a:off x="10387584" y="2377440"/>
              <a:ext cx="717804" cy="182880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151F3A"/>
                  </a:solidFill>
                  <a:latin typeface="Courier New"/>
                </a:rPr>
                <a:t>05 DOSSIER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387584" y="2596896"/>
              <a:ext cx="1133856" cy="38404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Calibri"/>
                </a:rPr>
                <a:t>Sec. 63 BSA PDF/A-1b + FINnet XML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387584" y="2999232"/>
              <a:ext cx="1133856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→ court + FIU</a:t>
              </a:r>
            </a:p>
          </p:txBody>
        </p:sp>
      </p:grpSp>
      <p:grpSp>
        <p:nvGrpSpPr>
          <p:cNvPr id="48" name="Card Provenance graph"/>
          <p:cNvGrpSpPr/>
          <p:nvPr/>
        </p:nvGrpSpPr>
        <p:grpSpPr>
          <a:xfrm>
            <a:off x="4864608" y="3346704"/>
            <a:ext cx="2162556" cy="2784348"/>
            <a:chOff x="4864608" y="3346704"/>
            <a:chExt cx="2162556" cy="2784348"/>
          </a:xfrm>
        </p:grpSpPr>
        <p:sp>
          <p:nvSpPr>
            <p:cNvPr id="49" name="Shadow"/>
            <p:cNvSpPr/>
            <p:nvPr/>
          </p:nvSpPr>
          <p:spPr>
            <a:xfrm>
              <a:off x="4905756" y="3387852"/>
              <a:ext cx="2121408" cy="2743200"/>
            </a:xfrm>
            <a:prstGeom prst="roundRect">
              <a:avLst>
                <a:gd name="adj" fmla="val 1724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Panel"/>
            <p:cNvSpPr/>
            <p:nvPr/>
          </p:nvSpPr>
          <p:spPr>
            <a:xfrm>
              <a:off x="4864608" y="3346704"/>
              <a:ext cx="2121408" cy="2743200"/>
            </a:xfrm>
            <a:prstGeom prst="roundRect">
              <a:avLst>
                <a:gd name="adj" fmla="val 1724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ag PILLAR 3 · T-PKG"/>
            <p:cNvSpPr/>
            <p:nvPr/>
          </p:nvSpPr>
          <p:spPr>
            <a:xfrm>
              <a:off x="4974336" y="3447288"/>
              <a:ext cx="1121664" cy="201168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PILLAR 3 · T-PKG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974336" y="3694176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PROVENANCE GRAPH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74336" y="3950208"/>
              <a:ext cx="1938527" cy="183794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32-byte CSR arena: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4M edges in 128 MB; graph RAM &lt; 210 MB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Harmonic time: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[cos | sin | ln(1+|Δt|)] stops sleeper aliasing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Deterministic PCST: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ties broken by disk offset → bit-identical graphs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Money trail: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UPI RRN → EVM/TRON USDT bridge affinity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74336" y="5815584"/>
              <a:ext cx="1938527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</a:rPr>
                <a:t>→ same graph every run</a:t>
              </a:r>
            </a:p>
          </p:txBody>
        </p:sp>
      </p:grpSp>
      <p:grpSp>
        <p:nvGrpSpPr>
          <p:cNvPr id="55" name="Card Legal dossier"/>
          <p:cNvGrpSpPr/>
          <p:nvPr/>
        </p:nvGrpSpPr>
        <p:grpSpPr>
          <a:xfrm>
            <a:off x="7150608" y="3346704"/>
            <a:ext cx="2162556" cy="2784348"/>
            <a:chOff x="7150608" y="3346704"/>
            <a:chExt cx="2162556" cy="2784348"/>
          </a:xfrm>
        </p:grpSpPr>
        <p:sp>
          <p:nvSpPr>
            <p:cNvPr id="56" name="Shadow"/>
            <p:cNvSpPr/>
            <p:nvPr/>
          </p:nvSpPr>
          <p:spPr>
            <a:xfrm>
              <a:off x="7191756" y="3387852"/>
              <a:ext cx="2121408" cy="2743200"/>
            </a:xfrm>
            <a:prstGeom prst="roundRect">
              <a:avLst>
                <a:gd name="adj" fmla="val 1724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Panel"/>
            <p:cNvSpPr/>
            <p:nvPr/>
          </p:nvSpPr>
          <p:spPr>
            <a:xfrm>
              <a:off x="7150608" y="3346704"/>
              <a:ext cx="2121408" cy="2743200"/>
            </a:xfrm>
            <a:prstGeom prst="roundRect">
              <a:avLst>
                <a:gd name="adj" fmla="val 1724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ag PILLAR 4 · BSA 2023"/>
            <p:cNvSpPr/>
            <p:nvPr/>
          </p:nvSpPr>
          <p:spPr>
            <a:xfrm>
              <a:off x="7260336" y="3447288"/>
              <a:ext cx="1304544" cy="201168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FFFFFF"/>
                  </a:solidFill>
                  <a:latin typeface="Courier New"/>
                </a:rPr>
                <a:t>PILLAR 4 · BSA 2023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260336" y="3694176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LEGAL DOSSIER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260336" y="3950208"/>
              <a:ext cx="1938527" cy="183794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Byte-offset pinning: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device, offset, length, proof per finding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Sec. 63 BSA Part A + B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auto-filled; Sec. 39 BSA / 79A IT Act tracks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Sec. 105 BNSS video: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50 Hz ENF hum, Δφ &lt; 0.08 rad flags splices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Sec. 106 BNSS seals: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3-point optical PUF Faraday ledger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260336" y="5815584"/>
              <a:ext cx="1938527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</a:rPr>
                <a:t>→ Sec. 63 BSA PDF/A-1b</a:t>
              </a:r>
            </a:p>
          </p:txBody>
        </p:sp>
      </p:grpSp>
      <p:grpSp>
        <p:nvGrpSpPr>
          <p:cNvPr id="62" name="Card Working prototype"/>
          <p:cNvGrpSpPr/>
          <p:nvPr/>
        </p:nvGrpSpPr>
        <p:grpSpPr>
          <a:xfrm>
            <a:off x="9436608" y="3346704"/>
            <a:ext cx="2162556" cy="2784348"/>
            <a:chOff x="9436608" y="3346704"/>
            <a:chExt cx="2162556" cy="2784348"/>
          </a:xfrm>
        </p:grpSpPr>
        <p:sp>
          <p:nvSpPr>
            <p:cNvPr id="63" name="Shadow"/>
            <p:cNvSpPr/>
            <p:nvPr/>
          </p:nvSpPr>
          <p:spPr>
            <a:xfrm>
              <a:off x="9477756" y="3387852"/>
              <a:ext cx="2121408" cy="2743200"/>
            </a:xfrm>
            <a:prstGeom prst="roundRect">
              <a:avLst>
                <a:gd name="adj" fmla="val 1724"/>
              </a:avLst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Panel"/>
            <p:cNvSpPr/>
            <p:nvPr/>
          </p:nvSpPr>
          <p:spPr>
            <a:xfrm>
              <a:off x="9436608" y="3346704"/>
              <a:ext cx="2121408" cy="2743200"/>
            </a:xfrm>
            <a:prstGeom prst="roundRect">
              <a:avLst>
                <a:gd name="adj" fmla="val 1724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ag WORKING PROTOTYPE"/>
            <p:cNvSpPr/>
            <p:nvPr/>
          </p:nvSpPr>
          <p:spPr>
            <a:xfrm>
              <a:off x="9546336" y="3447288"/>
              <a:ext cx="1182624" cy="201168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WORKING PROTOTYPE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546336" y="3694176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Arial"/>
                </a:rPr>
                <a:t>CYBER COCKPIT, LIVE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546336" y="3986784"/>
              <a:ext cx="923544" cy="512064"/>
            </a:xfrm>
            <a:prstGeom prst="roundRect">
              <a:avLst>
                <a:gd name="adj" fmla="val 5357"/>
              </a:avLst>
            </a:prstGeom>
            <a:solidFill>
              <a:srgbClr val="243055"/>
            </a:solidFill>
            <a:ln w="9525">
              <a:solidFill>
                <a:srgbClr val="C9C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45720" tIns="27432" rIns="36576" bIns="18288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Q1</a:t>
              </a:r>
            </a:p>
            <a:p>
              <a:pPr algn="l">
                <a:lnSpc>
                  <a:spcPct val="90000"/>
                </a:lnSpc>
                <a:spcAft>
                  <a:spcPts val="200"/>
                </a:spcAft>
              </a:pPr>
              <a:r>
                <a:rPr sz="850" b="0" i="0">
                  <a:solidFill>
                    <a:srgbClr val="FFFFFF"/>
                  </a:solidFill>
                  <a:latin typeface="Calibri"/>
                </a:rPr>
                <a:t>R_case root + ENF gauge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0524744" y="3986784"/>
              <a:ext cx="923544" cy="512064"/>
            </a:xfrm>
            <a:prstGeom prst="roundRect">
              <a:avLst>
                <a:gd name="adj" fmla="val 5357"/>
              </a:avLst>
            </a:prstGeom>
            <a:solidFill>
              <a:srgbClr val="243055"/>
            </a:solidFill>
            <a:ln w="9525">
              <a:solidFill>
                <a:srgbClr val="C9C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45720" tIns="27432" rIns="36576" bIns="18288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Q2</a:t>
              </a:r>
            </a:p>
            <a:p>
              <a:pPr algn="l">
                <a:lnSpc>
                  <a:spcPct val="90000"/>
                </a:lnSpc>
                <a:spcAft>
                  <a:spcPts val="200"/>
                </a:spcAft>
              </a:pPr>
              <a:r>
                <a:rPr sz="850" b="0" i="0">
                  <a:solidFill>
                    <a:srgbClr val="FFFFFF"/>
                  </a:solidFill>
                  <a:latin typeface="Calibri"/>
                </a:rPr>
                <a:t>PTT 0.2 ms → FAKE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546336" y="4553712"/>
              <a:ext cx="923544" cy="512064"/>
            </a:xfrm>
            <a:prstGeom prst="roundRect">
              <a:avLst>
                <a:gd name="adj" fmla="val 5357"/>
              </a:avLst>
            </a:prstGeom>
            <a:solidFill>
              <a:srgbClr val="243055"/>
            </a:solidFill>
            <a:ln w="9525">
              <a:solidFill>
                <a:srgbClr val="C9C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45720" tIns="27432" rIns="36576" bIns="18288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Q3</a:t>
              </a:r>
            </a:p>
            <a:p>
              <a:pPr algn="l">
                <a:lnSpc>
                  <a:spcPct val="90000"/>
                </a:lnSpc>
                <a:spcAft>
                  <a:spcPts val="200"/>
                </a:spcAft>
              </a:pPr>
              <a:r>
                <a:rPr sz="850" b="0" i="0">
                  <a:solidFill>
                    <a:srgbClr val="FFFFFF"/>
                  </a:solidFill>
                  <a:latin typeface="Calibri"/>
                </a:rPr>
                <a:t>25-node PCST graph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524744" y="4553712"/>
              <a:ext cx="923544" cy="512064"/>
            </a:xfrm>
            <a:prstGeom prst="roundRect">
              <a:avLst>
                <a:gd name="adj" fmla="val 5357"/>
              </a:avLst>
            </a:prstGeom>
            <a:solidFill>
              <a:srgbClr val="243055"/>
            </a:solidFill>
            <a:ln w="9525">
              <a:solidFill>
                <a:srgbClr val="C9CD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45720" tIns="27432" rIns="36576" bIns="18288"/>
            <a:lstStyle/>
            <a:p>
              <a:pPr algn="l">
                <a:lnSpc>
                  <a:spcPct val="90000"/>
                </a:lnSpc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Q4</a:t>
              </a:r>
            </a:p>
            <a:p>
              <a:pPr algn="l">
                <a:lnSpc>
                  <a:spcPct val="90000"/>
                </a:lnSpc>
                <a:spcAft>
                  <a:spcPts val="200"/>
                </a:spcAft>
              </a:pPr>
              <a:r>
                <a:rPr sz="850" b="0" i="0">
                  <a:solidFill>
                    <a:srgbClr val="FFFFFF"/>
                  </a:solidFill>
                  <a:latin typeface="Calibri"/>
                </a:rPr>
                <a:t>Export Sec. 63 + STR XML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546336" y="5138928"/>
              <a:ext cx="1938527" cy="4572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C9CDE3"/>
                  </a:solidFill>
                  <a:latin typeface="Courier New"/>
                </a:rPr>
                <a:t>sector_a_vault</a:t>
              </a:r>
              <a:r>
                <a:rPr sz="850" b="0" i="0">
                  <a:solidFill>
                    <a:srgbClr val="C9CDE3"/>
                  </a:solidFill>
                  <a:latin typeface="Calibri"/>
                </a:rPr>
                <a:t> · </a:t>
              </a:r>
              <a:r>
                <a:rPr sz="750" b="1" i="0">
                  <a:solidFill>
                    <a:srgbClr val="C9CDE3"/>
                  </a:solidFill>
                  <a:latin typeface="Courier New"/>
                </a:rPr>
                <a:t>sector_b_triage</a:t>
              </a:r>
              <a:r>
                <a:rPr sz="850" b="0" i="0">
                  <a:solidFill>
                    <a:srgbClr val="C9CDE3"/>
                  </a:solidFill>
                  <a:latin typeface="Calibri"/>
                </a:rPr>
                <a:t> · </a:t>
              </a:r>
              <a:r>
                <a:rPr sz="750" b="1" i="0">
                  <a:solidFill>
                    <a:srgbClr val="C9CDE3"/>
                  </a:solidFill>
                  <a:latin typeface="Courier New"/>
                </a:rPr>
                <a:t>sector_c_graph</a:t>
              </a:r>
              <a:r>
                <a:rPr sz="850" b="0" i="0">
                  <a:solidFill>
                    <a:srgbClr val="C9CDE3"/>
                  </a:solidFill>
                  <a:latin typeface="Calibri"/>
                </a:rPr>
                <a:t> · </a:t>
              </a:r>
              <a:r>
                <a:rPr sz="750" b="1" i="0">
                  <a:solidFill>
                    <a:srgbClr val="C9CDE3"/>
                  </a:solidFill>
                  <a:latin typeface="Courier New"/>
                </a:rPr>
                <a:t>sector_d_legal</a:t>
              </a:r>
              <a:r>
                <a:rPr sz="850" b="0" i="0">
                  <a:solidFill>
                    <a:srgbClr val="C9CDE3"/>
                  </a:solidFill>
                  <a:latin typeface="Calibri"/>
                </a:rPr>
                <a:t> · </a:t>
              </a:r>
              <a:r>
                <a:rPr sz="750" b="1" i="0">
                  <a:solidFill>
                    <a:srgbClr val="C9CDE3"/>
                  </a:solidFill>
                  <a:latin typeface="Courier New"/>
                </a:rPr>
                <a:t>sector_e_dashboard</a:t>
              </a:r>
              <a:r>
                <a:rPr sz="850" b="0" i="0">
                  <a:solidFill>
                    <a:srgbClr val="C9CDE3"/>
                  </a:solidFill>
                  <a:latin typeface="Calibri"/>
                </a:rPr>
                <a:t> · </a:t>
              </a:r>
              <a:r>
                <a:rPr sz="750" b="1" i="0">
                  <a:solidFill>
                    <a:srgbClr val="C9CDE3"/>
                  </a:solidFill>
                  <a:latin typeface="Courier New"/>
                </a:rPr>
                <a:t>main.py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546336" y="5632704"/>
              <a:ext cx="1938527" cy="40233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100"/>
                </a:spcAft>
              </a:pPr>
              <a:r>
                <a:rPr sz="950" b="1" i="0">
                  <a:solidFill>
                    <a:srgbClr val="DCAD45"/>
                  </a:solidFill>
                  <a:latin typeface="Calibri"/>
                </a:rPr>
                <a:t>Golden benchmark:</a:t>
              </a:r>
              <a:r>
                <a:rPr sz="950" b="0" i="0">
                  <a:solidFill>
                    <a:srgbClr val="FFFFFF"/>
                  </a:solidFill>
                  <a:latin typeface="Calibri"/>
                </a:rPr>
                <a:t> &lt; 2 s end-to-end</a:t>
              </a:r>
            </a:p>
            <a:p>
              <a:pPr algn="l">
                <a:spcAft>
                  <a:spcPts val="200"/>
                </a:spcAft>
              </a:pPr>
              <a:r>
                <a:rPr sz="750" b="1" i="0">
                  <a:solidFill>
                    <a:srgbClr val="DCAD45"/>
                  </a:solidFill>
                  <a:latin typeface="Courier New"/>
                </a:rPr>
                <a:t>share.gemini.google/VGvgu3LxFA4E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FEASIBILITY AND VIABILITY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1F709E"/>
              </a:buClr>
              <a:buFont typeface="Segoe UI Symbol"/>
              <a:buChar char="▸"/>
            </a:pPr>
            <a:r>
              <a:rPr sz="1400" b="1" i="0">
                <a:solidFill>
                  <a:srgbClr val="17334A"/>
                </a:solidFill>
                <a:latin typeface="Calibri"/>
              </a:rPr>
              <a:t>  Analysis of the feasibility of the idea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Potential challenges and risks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Strategies for overcoming these challenges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YOUR FEASIBILITY ANALYSIS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Runs on a 16 GB police laptop. No GPU, no cloud.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06</a:t>
            </a:r>
          </a:p>
        </p:txBody>
      </p:sp>
      <p:grpSp>
        <p:nvGrpSpPr>
          <p:cNvPr id="18" name="Stat 16 GB"/>
          <p:cNvGrpSpPr/>
          <p:nvPr/>
        </p:nvGrpSpPr>
        <p:grpSpPr>
          <a:xfrm>
            <a:off x="4864608" y="2304288"/>
            <a:ext cx="1604772" cy="585216"/>
            <a:chOff x="4864608" y="2304288"/>
            <a:chExt cx="1604772" cy="585216"/>
          </a:xfrm>
        </p:grpSpPr>
        <p:sp>
          <p:nvSpPr>
            <p:cNvPr id="19" name="Panel"/>
            <p:cNvSpPr/>
            <p:nvPr/>
          </p:nvSpPr>
          <p:spPr>
            <a:xfrm>
              <a:off x="4864608" y="2304288"/>
              <a:ext cx="1604772" cy="585216"/>
            </a:xfrm>
            <a:prstGeom prst="roundRect">
              <a:avLst>
                <a:gd name="adj" fmla="val 6250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56048" y="2340864"/>
              <a:ext cx="1467612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2A3990"/>
                  </a:solidFill>
                  <a:latin typeface="Arial"/>
                </a:rPr>
                <a:t>16 GB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56048" y="2670048"/>
              <a:ext cx="1467612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standard LEA laptop, zero GPU</a:t>
              </a:r>
            </a:p>
          </p:txBody>
        </p:sp>
      </p:grpSp>
      <p:grpSp>
        <p:nvGrpSpPr>
          <p:cNvPr id="22" name="Stat 7-bit"/>
          <p:cNvGrpSpPr/>
          <p:nvPr/>
        </p:nvGrpSpPr>
        <p:grpSpPr>
          <a:xfrm>
            <a:off x="6560820" y="2304288"/>
            <a:ext cx="1604772" cy="585216"/>
            <a:chOff x="6560820" y="2304288"/>
            <a:chExt cx="1604772" cy="585216"/>
          </a:xfrm>
        </p:grpSpPr>
        <p:sp>
          <p:nvSpPr>
            <p:cNvPr id="23" name="Panel"/>
            <p:cNvSpPr/>
            <p:nvPr/>
          </p:nvSpPr>
          <p:spPr>
            <a:xfrm>
              <a:off x="6560820" y="2304288"/>
              <a:ext cx="1604772" cy="585216"/>
            </a:xfrm>
            <a:prstGeom prst="roundRect">
              <a:avLst>
                <a:gd name="adj" fmla="val 6250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52260" y="2340864"/>
              <a:ext cx="1467612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C2536F"/>
                  </a:solidFill>
                  <a:latin typeface="Arial"/>
                </a:rPr>
                <a:t>7-bit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52260" y="2670048"/>
              <a:ext cx="1467612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INT8 weights, no CPU overflow</a:t>
              </a:r>
            </a:p>
          </p:txBody>
        </p:sp>
      </p:grpSp>
      <p:grpSp>
        <p:nvGrpSpPr>
          <p:cNvPr id="26" name="Stat 0 B"/>
          <p:cNvGrpSpPr/>
          <p:nvPr/>
        </p:nvGrpSpPr>
        <p:grpSpPr>
          <a:xfrm>
            <a:off x="8257032" y="2304288"/>
            <a:ext cx="1604772" cy="585216"/>
            <a:chOff x="8257032" y="2304288"/>
            <a:chExt cx="1604772" cy="585216"/>
          </a:xfrm>
        </p:grpSpPr>
        <p:sp>
          <p:nvSpPr>
            <p:cNvPr id="27" name="Panel"/>
            <p:cNvSpPr/>
            <p:nvPr/>
          </p:nvSpPr>
          <p:spPr>
            <a:xfrm>
              <a:off x="8257032" y="2304288"/>
              <a:ext cx="1604772" cy="585216"/>
            </a:xfrm>
            <a:prstGeom prst="roundRect">
              <a:avLst>
                <a:gd name="adj" fmla="val 6250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48472" y="2340864"/>
              <a:ext cx="1467612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2A3990"/>
                  </a:solidFill>
                  <a:latin typeface="Arial"/>
                </a:rPr>
                <a:t>0 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48472" y="2670048"/>
              <a:ext cx="1467612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written to evidence</a:t>
              </a:r>
            </a:p>
          </p:txBody>
        </p:sp>
      </p:grpSp>
      <p:grpSp>
        <p:nvGrpSpPr>
          <p:cNvPr id="30" name="Stat &lt;210 MB"/>
          <p:cNvGrpSpPr/>
          <p:nvPr/>
        </p:nvGrpSpPr>
        <p:grpSpPr>
          <a:xfrm>
            <a:off x="9953244" y="2304288"/>
            <a:ext cx="1604772" cy="585216"/>
            <a:chOff x="9953244" y="2304288"/>
            <a:chExt cx="1604772" cy="585216"/>
          </a:xfrm>
        </p:grpSpPr>
        <p:sp>
          <p:nvSpPr>
            <p:cNvPr id="31" name="Panel"/>
            <p:cNvSpPr/>
            <p:nvPr/>
          </p:nvSpPr>
          <p:spPr>
            <a:xfrm>
              <a:off x="9953244" y="2304288"/>
              <a:ext cx="1604772" cy="585216"/>
            </a:xfrm>
            <a:prstGeom prst="roundRect">
              <a:avLst>
                <a:gd name="adj" fmla="val 6250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44684" y="2340864"/>
              <a:ext cx="1467612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C2536F"/>
                  </a:solidFill>
                  <a:latin typeface="Arial"/>
                </a:rPr>
                <a:t>&lt;210 MB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044684" y="2670048"/>
              <a:ext cx="1467612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graph RAM, 4M+ edges</a:t>
              </a:r>
            </a:p>
          </p:txBody>
        </p:sp>
      </p:grpSp>
      <p:grpSp>
        <p:nvGrpSpPr>
          <p:cNvPr id="34" name="Card Bounded, bit-exact"/>
          <p:cNvGrpSpPr/>
          <p:nvPr/>
        </p:nvGrpSpPr>
        <p:grpSpPr>
          <a:xfrm>
            <a:off x="4864608" y="2999232"/>
            <a:ext cx="2162556" cy="2016251"/>
            <a:chOff x="4864608" y="2999232"/>
            <a:chExt cx="2162556" cy="2016251"/>
          </a:xfrm>
        </p:grpSpPr>
        <p:sp>
          <p:nvSpPr>
            <p:cNvPr id="35" name="Shadow"/>
            <p:cNvSpPr/>
            <p:nvPr/>
          </p:nvSpPr>
          <p:spPr>
            <a:xfrm>
              <a:off x="4905756" y="3040379"/>
              <a:ext cx="2121408" cy="1975104"/>
            </a:xfrm>
            <a:prstGeom prst="roundRect">
              <a:avLst>
                <a:gd name="adj" fmla="val 1851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anel"/>
            <p:cNvSpPr/>
            <p:nvPr/>
          </p:nvSpPr>
          <p:spPr>
            <a:xfrm>
              <a:off x="4864608" y="2999232"/>
              <a:ext cx="2121408" cy="1975104"/>
            </a:xfrm>
            <a:prstGeom prst="roundRect">
              <a:avLst>
                <a:gd name="adj" fmla="val 1851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ag TECHNICAL"/>
            <p:cNvSpPr/>
            <p:nvPr/>
          </p:nvSpPr>
          <p:spPr>
            <a:xfrm>
              <a:off x="4974336" y="3099815"/>
              <a:ext cx="694944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TECHNICAL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74336" y="3346703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BOUNDED, BIT-EXACT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74336" y="3602736"/>
              <a:ext cx="1938527" cy="131673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4 MB mmap ring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per thread + MADV_DONTNEED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Sparse-extent skip;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E01 / AFF4 via 16 MB ring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Bit-exact: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255·63·2 = 32,130 fits int16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Thermal cap: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max 4 threads</a:t>
              </a:r>
            </a:p>
          </p:txBody>
        </p:sp>
      </p:grpSp>
      <p:grpSp>
        <p:nvGrpSpPr>
          <p:cNvPr id="40" name="Card Fits the cyber cell"/>
          <p:cNvGrpSpPr/>
          <p:nvPr/>
        </p:nvGrpSpPr>
        <p:grpSpPr>
          <a:xfrm>
            <a:off x="7150608" y="2999232"/>
            <a:ext cx="2162556" cy="2016251"/>
            <a:chOff x="7150608" y="2999232"/>
            <a:chExt cx="2162556" cy="2016251"/>
          </a:xfrm>
        </p:grpSpPr>
        <p:sp>
          <p:nvSpPr>
            <p:cNvPr id="41" name="Shadow"/>
            <p:cNvSpPr/>
            <p:nvPr/>
          </p:nvSpPr>
          <p:spPr>
            <a:xfrm>
              <a:off x="7191756" y="3040379"/>
              <a:ext cx="2121408" cy="1975104"/>
            </a:xfrm>
            <a:prstGeom prst="roundRect">
              <a:avLst>
                <a:gd name="adj" fmla="val 1851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anel"/>
            <p:cNvSpPr/>
            <p:nvPr/>
          </p:nvSpPr>
          <p:spPr>
            <a:xfrm>
              <a:off x="7150608" y="2999232"/>
              <a:ext cx="2121408" cy="1975104"/>
            </a:xfrm>
            <a:prstGeom prst="roundRect">
              <a:avLst>
                <a:gd name="adj" fmla="val 1851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ag OPERATIONAL"/>
            <p:cNvSpPr/>
            <p:nvPr/>
          </p:nvSpPr>
          <p:spPr>
            <a:xfrm>
              <a:off x="7260336" y="3099815"/>
              <a:ext cx="816864" cy="201168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OPERATIONAL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346703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FITS THE CYBER CELL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260336" y="3602736"/>
              <a:ext cx="1938527" cy="131673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100% air-gapped,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zero cloud egress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ISO/IEC 27037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acquisition workflow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Interoperable: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Autopsy, FTK, Wireshark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NavIC 1-PPS + RFC 3161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time anchors</a:t>
              </a:r>
            </a:p>
          </p:txBody>
        </p:sp>
      </p:grpSp>
      <p:grpSp>
        <p:nvGrpSpPr>
          <p:cNvPr id="46" name="Card Zero licence, long life"/>
          <p:cNvGrpSpPr/>
          <p:nvPr/>
        </p:nvGrpSpPr>
        <p:grpSpPr>
          <a:xfrm>
            <a:off x="9436608" y="2999232"/>
            <a:ext cx="2162556" cy="2016251"/>
            <a:chOff x="9436608" y="2999232"/>
            <a:chExt cx="2162556" cy="2016251"/>
          </a:xfrm>
        </p:grpSpPr>
        <p:sp>
          <p:nvSpPr>
            <p:cNvPr id="47" name="Shadow"/>
            <p:cNvSpPr/>
            <p:nvPr/>
          </p:nvSpPr>
          <p:spPr>
            <a:xfrm>
              <a:off x="9477756" y="3040379"/>
              <a:ext cx="2121408" cy="1975104"/>
            </a:xfrm>
            <a:prstGeom prst="roundRect">
              <a:avLst>
                <a:gd name="adj" fmla="val 1851"/>
              </a:avLst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Panel"/>
            <p:cNvSpPr/>
            <p:nvPr/>
          </p:nvSpPr>
          <p:spPr>
            <a:xfrm>
              <a:off x="9436608" y="2999232"/>
              <a:ext cx="2121408" cy="1975104"/>
            </a:xfrm>
            <a:prstGeom prst="roundRect">
              <a:avLst>
                <a:gd name="adj" fmla="val 1851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ag ECONOMIC"/>
            <p:cNvSpPr/>
            <p:nvPr/>
          </p:nvSpPr>
          <p:spPr>
            <a:xfrm>
              <a:off x="9546336" y="3099815"/>
              <a:ext cx="633984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ECONOMIC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546336" y="3346703"/>
              <a:ext cx="1920239" cy="21945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Arial"/>
                </a:rPr>
                <a:t>ZERO LICENCE, LONG LIFE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546336" y="3602736"/>
              <a:ext cx="1938527" cy="131673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₹0 licensing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vs ₹15L–₹25L per seat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₹150–₹250 Cr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saved yearly, 1,000+ districts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5+ year life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for existing 16 GB PCs</a:t>
              </a:r>
            </a:p>
            <a:p>
              <a:pPr algn="l" marL="118872" indent="-118872">
                <a:spcAft>
                  <a:spcPts val="25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1000" b="1" i="0">
                  <a:solidFill>
                    <a:srgbClr val="DCAD45"/>
                  </a:solidFill>
                  <a:latin typeface="Calibri"/>
                </a:rPr>
                <a:t>No 450 W GPU servers</a:t>
              </a:r>
              <a:r>
                <a:rPr sz="1000" b="0" i="0">
                  <a:solidFill>
                    <a:srgbClr val="C9CDE3"/>
                  </a:solidFill>
                  <a:latin typeface="Calibri"/>
                </a:rPr>
                <a:t> to buy</a:t>
              </a:r>
            </a:p>
          </p:txBody>
        </p:sp>
      </p:grpSp>
      <p:grpSp>
        <p:nvGrpSpPr>
          <p:cNvPr id="52" name="Memory budget"/>
          <p:cNvGrpSpPr/>
          <p:nvPr/>
        </p:nvGrpSpPr>
        <p:grpSpPr>
          <a:xfrm>
            <a:off x="4864608" y="5102352"/>
            <a:ext cx="6693408" cy="987552"/>
            <a:chOff x="4864608" y="5102352"/>
            <a:chExt cx="6693408" cy="987552"/>
          </a:xfrm>
        </p:grpSpPr>
        <p:sp>
          <p:nvSpPr>
            <p:cNvPr id="53" name="Panel"/>
            <p:cNvSpPr/>
            <p:nvPr/>
          </p:nvSpPr>
          <p:spPr>
            <a:xfrm>
              <a:off x="4864608" y="5102352"/>
              <a:ext cx="6693408" cy="987552"/>
            </a:xfrm>
            <a:prstGeom prst="roundRect">
              <a:avLst>
                <a:gd name="adj" fmla="val 3703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74336" y="5138928"/>
              <a:ext cx="4572000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</a:rPr>
                <a:t>16 GB LAPTOP MEMORY BUDGET (MB) · ACTIVE ≈ 422 MB</a:t>
              </a:r>
            </a:p>
          </p:txBody>
        </p:sp>
        <p:sp>
          <p:nvSpPr>
            <p:cNvPr id="55" name="Segment I/O rings 16"/>
            <p:cNvSpPr/>
            <p:nvPr/>
          </p:nvSpPr>
          <p:spPr>
            <a:xfrm>
              <a:off x="4974336" y="5394960"/>
              <a:ext cx="173345" cy="201168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egment E01 ring 16"/>
            <p:cNvSpPr/>
            <p:nvPr/>
          </p:nvSpPr>
          <p:spPr>
            <a:xfrm>
              <a:off x="5147681" y="5394960"/>
              <a:ext cx="173345" cy="201168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egment CSR edges 128"/>
            <p:cNvSpPr/>
            <p:nvPr/>
          </p:nvSpPr>
          <p:spPr>
            <a:xfrm>
              <a:off x="5321027" y="5394960"/>
              <a:ext cx="1386767" cy="201168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egment WL sketches 82"/>
            <p:cNvSpPr/>
            <p:nvPr/>
          </p:nvSpPr>
          <p:spPr>
            <a:xfrm>
              <a:off x="6707795" y="5394960"/>
              <a:ext cx="888398" cy="201168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egment INT8 ONNX 180"/>
            <p:cNvSpPr/>
            <p:nvPr/>
          </p:nvSpPr>
          <p:spPr>
            <a:xfrm>
              <a:off x="7596193" y="5394960"/>
              <a:ext cx="1950142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974336" y="5742432"/>
              <a:ext cx="100584" cy="100584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102352" y="5687568"/>
              <a:ext cx="701040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00" b="0" i="0">
                  <a:solidFill>
                    <a:srgbClr val="151F3A"/>
                  </a:solidFill>
                  <a:latin typeface="Calibri"/>
                </a:rPr>
                <a:t>I/O rings 16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894832" y="5742432"/>
              <a:ext cx="100584" cy="100584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022848" y="5687568"/>
              <a:ext cx="650240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00" b="0" i="0">
                  <a:solidFill>
                    <a:srgbClr val="151F3A"/>
                  </a:solidFill>
                  <a:latin typeface="Calibri"/>
                </a:rPr>
                <a:t>E01 ring 16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764528" y="5742432"/>
              <a:ext cx="100584" cy="100584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892544" y="5687568"/>
              <a:ext cx="751840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00" b="0" i="0">
                  <a:solidFill>
                    <a:srgbClr val="151F3A"/>
                  </a:solidFill>
                  <a:latin typeface="Calibri"/>
                </a:rPr>
                <a:t>CSR edges 128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735824" y="5742432"/>
              <a:ext cx="100584" cy="100584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863840" y="5687568"/>
              <a:ext cx="802640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00" b="0" i="0">
                  <a:solidFill>
                    <a:srgbClr val="151F3A"/>
                  </a:solidFill>
                  <a:latin typeface="Calibri"/>
                </a:rPr>
                <a:t>WL sketches 82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8757920" y="5742432"/>
              <a:ext cx="100584" cy="100584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885936" y="5687568"/>
              <a:ext cx="751840" cy="20116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800" b="0" i="0">
                  <a:solidFill>
                    <a:srgbClr val="151F3A"/>
                  </a:solidFill>
                  <a:latin typeface="Calibri"/>
                </a:rPr>
                <a:t>INT8 ONNX 180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710928" y="5120640"/>
              <a:ext cx="1783080" cy="93268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C2536F"/>
                  </a:solidFill>
                  <a:latin typeface="Arial"/>
                </a:rPr>
                <a:t>&gt;97%</a:t>
              </a:r>
            </a:p>
            <a:p>
              <a:pPr algn="l">
                <a:spcAft>
                  <a:spcPts val="0"/>
                </a:spcAft>
              </a:pPr>
              <a:r>
                <a:rPr sz="900" b="0" i="0">
                  <a:solidFill>
                    <a:srgbClr val="151F3A"/>
                  </a:solidFill>
                  <a:latin typeface="Calibri"/>
                </a:rPr>
                <a:t>of 16,384 MB left for OS + acquisition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FEASIBILITY AND VIABILITY (contd.)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Analysis of the feasibility of the idea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1F709E"/>
              </a:buClr>
              <a:buFont typeface="Segoe UI Symbol"/>
              <a:buChar char="▸"/>
            </a:pPr>
            <a:r>
              <a:rPr sz="1400" b="1" i="0">
                <a:solidFill>
                  <a:srgbClr val="17334A"/>
                </a:solidFill>
                <a:latin typeface="Calibri"/>
              </a:rPr>
              <a:t>  Potential challenges and risks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1F709E"/>
              </a:buClr>
              <a:buFont typeface="Segoe UI Symbol"/>
              <a:buChar char="▸"/>
            </a:pPr>
            <a:r>
              <a:rPr sz="1400" b="1" i="0">
                <a:solidFill>
                  <a:srgbClr val="17334A"/>
                </a:solidFill>
                <a:latin typeface="Calibri"/>
              </a:rPr>
              <a:t>  Strategies for overcoming these challenges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YOUR FEASIBILITY ANALYSIS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Built to survive anti-forensics and cross-examination.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07</a:t>
            </a:r>
          </a:p>
        </p:txBody>
      </p:sp>
      <p:grpSp>
        <p:nvGrpSpPr>
          <p:cNvPr id="18" name="Shield 1"/>
          <p:cNvGrpSpPr/>
          <p:nvPr/>
        </p:nvGrpSpPr>
        <p:grpSpPr>
          <a:xfrm>
            <a:off x="4864608" y="2304288"/>
            <a:ext cx="3305556" cy="1668780"/>
            <a:chOff x="4864608" y="2304288"/>
            <a:chExt cx="3305556" cy="1668780"/>
          </a:xfrm>
        </p:grpSpPr>
        <p:sp>
          <p:nvSpPr>
            <p:cNvPr id="19" name="Shadow"/>
            <p:cNvSpPr/>
            <p:nvPr/>
          </p:nvSpPr>
          <p:spPr>
            <a:xfrm>
              <a:off x="4905756" y="2345436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anel"/>
            <p:cNvSpPr/>
            <p:nvPr/>
          </p:nvSpPr>
          <p:spPr>
            <a:xfrm>
              <a:off x="4864608" y="2304288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ag RISK 1 · ANTI-FORENSICS"/>
            <p:cNvSpPr/>
            <p:nvPr/>
          </p:nvSpPr>
          <p:spPr>
            <a:xfrm>
              <a:off x="4974336" y="2395728"/>
              <a:ext cx="1548384" cy="201168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FFFFFF"/>
                  </a:solidFill>
                  <a:latin typeface="Courier New"/>
                </a:rPr>
                <a:t>RISK 1 · ANTI-FORENSICS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74336" y="2633472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TIMESTOMPING &amp; VSS WIPING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74336" y="2852928"/>
              <a:ext cx="3081528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STRATEGY: 5-invariant timestamp matrix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74336" y="3090672"/>
              <a:ext cx="3081528" cy="78638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$MFT LSN @0x08 + $SI USN @0x28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must rise with time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100-ns tick entropy: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t mod 10^7 = 0 exposes SetMace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$UsnJrnl + raw VSS carve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split copies from backdates</a:t>
              </a:r>
            </a:p>
          </p:txBody>
        </p:sp>
      </p:grpSp>
      <p:grpSp>
        <p:nvGrpSpPr>
          <p:cNvPr id="25" name="Shield 2"/>
          <p:cNvGrpSpPr/>
          <p:nvPr/>
        </p:nvGrpSpPr>
        <p:grpSpPr>
          <a:xfrm>
            <a:off x="8293608" y="2304288"/>
            <a:ext cx="3305556" cy="1668780"/>
            <a:chOff x="8293608" y="2304288"/>
            <a:chExt cx="3305556" cy="1668780"/>
          </a:xfrm>
        </p:grpSpPr>
        <p:sp>
          <p:nvSpPr>
            <p:cNvPr id="26" name="Shadow"/>
            <p:cNvSpPr/>
            <p:nvPr/>
          </p:nvSpPr>
          <p:spPr>
            <a:xfrm>
              <a:off x="8334756" y="2345436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Panel"/>
            <p:cNvSpPr/>
            <p:nvPr/>
          </p:nvSpPr>
          <p:spPr>
            <a:xfrm>
              <a:off x="8293608" y="2304288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ag RISK 2 · TECHNICAL"/>
            <p:cNvSpPr/>
            <p:nvPr/>
          </p:nvSpPr>
          <p:spPr>
            <a:xfrm>
              <a:off x="8403336" y="2395728"/>
              <a:ext cx="1243584" cy="201168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RISK 2 · TECHNICAL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403336" y="2633472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SUPERNODES &amp; PARSER BOMBS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403336" y="2852928"/>
              <a:ext cx="3081528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STRATEGY: CamFlow split + Wasmtime sandbox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403336" y="3090672"/>
              <a:ext cx="3081528" cy="78638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64 MB zero-syscall sandbox,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50M fuel cap, 64:1 breaker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Brent's cycle guard: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MaxDepth ≤ 65,536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Inverse log-degree gating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splits svchost-type hubs</a:t>
              </a:r>
            </a:p>
          </p:txBody>
        </p:sp>
      </p:grpSp>
      <p:grpSp>
        <p:nvGrpSpPr>
          <p:cNvPr id="32" name="Shield 3"/>
          <p:cNvGrpSpPr/>
          <p:nvPr/>
        </p:nvGrpSpPr>
        <p:grpSpPr>
          <a:xfrm>
            <a:off x="4864608" y="4059935"/>
            <a:ext cx="3305556" cy="1668780"/>
            <a:chOff x="4864608" y="4059935"/>
            <a:chExt cx="3305556" cy="1668780"/>
          </a:xfrm>
        </p:grpSpPr>
        <p:sp>
          <p:nvSpPr>
            <p:cNvPr id="33" name="Shadow"/>
            <p:cNvSpPr/>
            <p:nvPr/>
          </p:nvSpPr>
          <p:spPr>
            <a:xfrm>
              <a:off x="4905756" y="4101083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Panel"/>
            <p:cNvSpPr/>
            <p:nvPr/>
          </p:nvSpPr>
          <p:spPr>
            <a:xfrm>
              <a:off x="4864608" y="4059935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ag RISK 3 · MEDIA DECAY"/>
            <p:cNvSpPr/>
            <p:nvPr/>
          </p:nvSpPr>
          <p:spPr>
            <a:xfrm>
              <a:off x="4974336" y="4151375"/>
              <a:ext cx="1365503" cy="201168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RISK 3 · MEDIA DECAY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74336" y="4389120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FLASH DEGRADES BEFORE TRIAL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4336" y="4608575"/>
              <a:ext cx="3081528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STRATEGY: Piecewise valid-extent SHA-256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74336" y="4846320"/>
              <a:ext cx="3081528" cy="78638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Bad sectors isolated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(0xDEADBEEF) in a signed manifest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Dual hashes: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linear + piecewise over healthy bitmask M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eBPF write-block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keeps the image intact in the malkhana</a:t>
              </a:r>
            </a:p>
          </p:txBody>
        </p:sp>
      </p:grpSp>
      <p:grpSp>
        <p:nvGrpSpPr>
          <p:cNvPr id="39" name="Shield 4"/>
          <p:cNvGrpSpPr/>
          <p:nvPr/>
        </p:nvGrpSpPr>
        <p:grpSpPr>
          <a:xfrm>
            <a:off x="8293608" y="4059935"/>
            <a:ext cx="3305556" cy="1668780"/>
            <a:chOff x="8293608" y="4059935"/>
            <a:chExt cx="3305556" cy="1668780"/>
          </a:xfrm>
        </p:grpSpPr>
        <p:sp>
          <p:nvSpPr>
            <p:cNvPr id="40" name="Shadow"/>
            <p:cNvSpPr/>
            <p:nvPr/>
          </p:nvSpPr>
          <p:spPr>
            <a:xfrm>
              <a:off x="8334756" y="4101083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anel"/>
            <p:cNvSpPr/>
            <p:nvPr/>
          </p:nvSpPr>
          <p:spPr>
            <a:xfrm>
              <a:off x="8293608" y="4059935"/>
              <a:ext cx="3264408" cy="1627632"/>
            </a:xfrm>
            <a:prstGeom prst="roundRect">
              <a:avLst>
                <a:gd name="adj" fmla="val 2247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ag RISK 4 · LEGAL"/>
            <p:cNvSpPr/>
            <p:nvPr/>
          </p:nvSpPr>
          <p:spPr>
            <a:xfrm>
              <a:off x="8403336" y="4151375"/>
              <a:ext cx="999743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RISK 4 · LEGAL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03336" y="4389120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SEC. 45 BSA TROJAN DEFENCE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403336" y="4608575"/>
              <a:ext cx="3081528" cy="1828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2A3990"/>
                  </a:solidFill>
                  <a:latin typeface="Courier New"/>
                </a:rPr>
                <a:t>→ STRATEGY: Exculpatory ledger + salted Merkle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403336" y="4846320"/>
              <a:ext cx="3081528" cy="786384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14-point intrusion checklist: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RDP, AnyDesk, SSH, rootkits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pruned_telemetry_audit.parquet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keeps pruned edges</a:t>
              </a:r>
            </a:p>
            <a:p>
              <a:pPr algn="l" marL="118872" indent="-118872">
                <a:spcAft>
                  <a:spcPts val="2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1000" b="1" i="0">
                  <a:solidFill>
                    <a:srgbClr val="151F3A"/>
                  </a:solidFill>
                  <a:latin typeface="Calibri"/>
                </a:rPr>
                <a:t>DPDP-safe annexes:</a:t>
              </a:r>
              <a:r>
                <a:rPr sz="1000" b="0" i="0">
                  <a:solidFill>
                    <a:srgbClr val="151F3A"/>
                  </a:solidFill>
                  <a:latin typeface="Calibri"/>
                </a:rPr>
                <a:t> salted BLAKE3; clone intact (Sec. 230)</a:t>
              </a:r>
            </a:p>
          </p:txBody>
        </p:sp>
      </p:grpSp>
      <p:grpSp>
        <p:nvGrpSpPr>
          <p:cNvPr id="46" name="Banner"/>
          <p:cNvGrpSpPr/>
          <p:nvPr/>
        </p:nvGrpSpPr>
        <p:grpSpPr>
          <a:xfrm>
            <a:off x="4864608" y="5760720"/>
            <a:ext cx="6693408" cy="329184"/>
            <a:chOff x="4864608" y="5760720"/>
            <a:chExt cx="6693408" cy="329184"/>
          </a:xfrm>
        </p:grpSpPr>
        <p:sp>
          <p:nvSpPr>
            <p:cNvPr id="47" name="Panel"/>
            <p:cNvSpPr/>
            <p:nvPr/>
          </p:nvSpPr>
          <p:spPr>
            <a:xfrm>
              <a:off x="4864608" y="5760720"/>
              <a:ext cx="6693408" cy="329184"/>
            </a:xfrm>
            <a:prstGeom prst="roundRect">
              <a:avLst>
                <a:gd name="adj" fmla="val 11111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92624" y="5760720"/>
              <a:ext cx="6437376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100"/>
                </a:spcAft>
              </a:pPr>
              <a:r>
                <a:rPr sz="950" b="1" i="0">
                  <a:solidFill>
                    <a:srgbClr val="DCAD45"/>
                  </a:solidFill>
                  <a:latin typeface="Calibri"/>
                </a:rPr>
                <a:t>ADVERSARIAL SURVIVAL</a:t>
              </a:r>
              <a:r>
                <a:rPr sz="950" b="0" i="0">
                  <a:solidFill>
                    <a:srgbClr val="FFFFFF"/>
                  </a:solidFill>
                  <a:latin typeface="Calibri"/>
                </a:rPr>
                <a:t>   100% cyclic-trap neutralisation  ·  0-byte image mutation  ·  100% BSA 2023 admissibility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IMPACT AND BENEFITS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Potential impact on the target audience</a:t>
            </a:r>
          </a:p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Benefits of the solution (social, economic, environmental, etc.)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YOUR IMPACT AND BENEFITS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Faster triage, safer convictions, zero foreign licences.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08</a:t>
            </a:r>
          </a:p>
        </p:txBody>
      </p:sp>
      <p:sp>
        <p:nvSpPr>
          <p:cNvPr id="18" name="Threat strip"/>
          <p:cNvSpPr/>
          <p:nvPr/>
        </p:nvSpPr>
        <p:spPr>
          <a:xfrm>
            <a:off x="4864608" y="2304288"/>
            <a:ext cx="6693408" cy="292608"/>
          </a:xfrm>
          <a:prstGeom prst="roundRect">
            <a:avLst>
              <a:gd name="adj" fmla="val 9375"/>
            </a:avLst>
          </a:prstGeom>
          <a:solidFill>
            <a:srgbClr val="DCAD45"/>
          </a:solidFill>
          <a:ln w="12700">
            <a:solidFill>
              <a:srgbClr val="15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73152" bIns="0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51F3A"/>
                </a:solidFill>
                <a:latin typeface="Calibri"/>
              </a:rPr>
              <a:t>I4C &amp; MHA PRIORITY THREATS</a:t>
            </a:r>
            <a:r>
              <a:rPr sz="950" b="0" i="0">
                <a:solidFill>
                  <a:srgbClr val="151F3A"/>
                </a:solidFill>
                <a:latin typeface="Calibri"/>
              </a:rPr>
              <a:t>   Digital Arrest deepfakes  ·  UPI mule chains  ·  sideloaded Android RATs</a:t>
            </a:r>
          </a:p>
        </p:txBody>
      </p:sp>
      <p:grpSp>
        <p:nvGrpSpPr>
          <p:cNvPr id="19" name="Pillar LAW ENFORCEMENT"/>
          <p:cNvGrpSpPr/>
          <p:nvPr/>
        </p:nvGrpSpPr>
        <p:grpSpPr>
          <a:xfrm>
            <a:off x="4864608" y="2706624"/>
            <a:ext cx="2162556" cy="1458468"/>
            <a:chOff x="4864608" y="2706624"/>
            <a:chExt cx="2162556" cy="1458468"/>
          </a:xfrm>
        </p:grpSpPr>
        <p:sp>
          <p:nvSpPr>
            <p:cNvPr id="20" name="Shadow"/>
            <p:cNvSpPr/>
            <p:nvPr/>
          </p:nvSpPr>
          <p:spPr>
            <a:xfrm>
              <a:off x="4905756" y="2747772"/>
              <a:ext cx="2121408" cy="1417320"/>
            </a:xfrm>
            <a:prstGeom prst="roundRect">
              <a:avLst>
                <a:gd name="adj" fmla="val 258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Panel"/>
            <p:cNvSpPr/>
            <p:nvPr/>
          </p:nvSpPr>
          <p:spPr>
            <a:xfrm>
              <a:off x="4864608" y="2706624"/>
              <a:ext cx="2121408" cy="1417320"/>
            </a:xfrm>
            <a:prstGeom prst="roundRect">
              <a:avLst>
                <a:gd name="adj" fmla="val 258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ag LAW ENFORCEMENT"/>
            <p:cNvSpPr/>
            <p:nvPr/>
          </p:nvSpPr>
          <p:spPr>
            <a:xfrm>
              <a:off x="4974336" y="2798064"/>
              <a:ext cx="1060704" cy="182880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LAW ENFORCEMENT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74336" y="3017520"/>
              <a:ext cx="1938527" cy="347472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C2536F"/>
                  </a:solidFill>
                  <a:latin typeface="Arial"/>
                </a:rPr>
                <a:t>&lt;15 min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74336" y="3364991"/>
              <a:ext cx="1938527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1">
                  <a:solidFill>
                    <a:srgbClr val="5B6070"/>
                  </a:solidFill>
                  <a:latin typeface="Calibri"/>
                </a:rPr>
                <a:t>triage, down from 14–21 days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74336" y="3602736"/>
              <a:ext cx="1938527" cy="5029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1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&lt;3-min</a:t>
              </a:r>
              <a:r>
                <a:rPr sz="950" b="0" i="0">
                  <a:solidFill>
                    <a:srgbClr val="151F3A"/>
                  </a:solidFill>
                  <a:latin typeface="Calibri"/>
                </a:rPr>
                <a:t> Phase-1 capture</a:t>
              </a:r>
            </a:p>
            <a:p>
              <a:pPr algn="l" marL="118872" indent="-118872">
                <a:spcAft>
                  <a:spcPts val="1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One cockpit</a:t>
              </a:r>
              <a:r>
                <a:rPr sz="950" b="0" i="0">
                  <a:solidFill>
                    <a:srgbClr val="151F3A"/>
                  </a:solidFill>
                  <a:latin typeface="Calibri"/>
                </a:rPr>
                <a:t> replaces 5+ tools</a:t>
              </a:r>
            </a:p>
          </p:txBody>
        </p:sp>
      </p:grpSp>
      <p:grpSp>
        <p:nvGrpSpPr>
          <p:cNvPr id="26" name="Pillar JUDICIARY"/>
          <p:cNvGrpSpPr/>
          <p:nvPr/>
        </p:nvGrpSpPr>
        <p:grpSpPr>
          <a:xfrm>
            <a:off x="7150608" y="2706624"/>
            <a:ext cx="2162556" cy="1458468"/>
            <a:chOff x="7150608" y="2706624"/>
            <a:chExt cx="2162556" cy="1458468"/>
          </a:xfrm>
        </p:grpSpPr>
        <p:sp>
          <p:nvSpPr>
            <p:cNvPr id="27" name="Shadow"/>
            <p:cNvSpPr/>
            <p:nvPr/>
          </p:nvSpPr>
          <p:spPr>
            <a:xfrm>
              <a:off x="7191756" y="2747772"/>
              <a:ext cx="2121408" cy="1417320"/>
            </a:xfrm>
            <a:prstGeom prst="roundRect">
              <a:avLst>
                <a:gd name="adj" fmla="val 258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Panel"/>
            <p:cNvSpPr/>
            <p:nvPr/>
          </p:nvSpPr>
          <p:spPr>
            <a:xfrm>
              <a:off x="7150608" y="2706624"/>
              <a:ext cx="2121408" cy="1417320"/>
            </a:xfrm>
            <a:prstGeom prst="roundRect">
              <a:avLst>
                <a:gd name="adj" fmla="val 258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ag JUDICIARY"/>
            <p:cNvSpPr/>
            <p:nvPr/>
          </p:nvSpPr>
          <p:spPr>
            <a:xfrm>
              <a:off x="7260336" y="2798064"/>
              <a:ext cx="694944" cy="182880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JUDICIARY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60336" y="3017520"/>
              <a:ext cx="1938527" cy="347472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2A3990"/>
                  </a:solidFill>
                  <a:latin typeface="Arial"/>
                </a:rPr>
                <a:t>100%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60336" y="3364991"/>
              <a:ext cx="1938527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1">
                  <a:solidFill>
                    <a:srgbClr val="5B6070"/>
                  </a:solidFill>
                  <a:latin typeface="Calibri"/>
                </a:rPr>
                <a:t>events hash-linked to evidence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60336" y="3602736"/>
              <a:ext cx="1938527" cy="5029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1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Sec. 63 BSA certificate</a:t>
              </a:r>
              <a:r>
                <a:rPr sz="950" b="0" i="0">
                  <a:solidFill>
                    <a:srgbClr val="151F3A"/>
                  </a:solidFill>
                  <a:latin typeface="Calibri"/>
                </a:rPr>
                <a:t> automated</a:t>
              </a:r>
            </a:p>
            <a:p>
              <a:pPr algn="l" marL="118872" indent="-118872">
                <a:spcAft>
                  <a:spcPts val="100"/>
                </a:spcAft>
                <a:buClr>
                  <a:srgbClr val="C2536F"/>
                </a:buClr>
                <a:buFont typeface="Arial"/>
                <a:buChar char="•"/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No black-box AI</a:t>
              </a:r>
              <a:r>
                <a:rPr sz="950" b="0" i="0">
                  <a:solidFill>
                    <a:srgbClr val="151F3A"/>
                  </a:solidFill>
                  <a:latin typeface="Calibri"/>
                </a:rPr>
                <a:t> to attack</a:t>
              </a:r>
            </a:p>
          </p:txBody>
        </p:sp>
      </p:grpSp>
      <p:grpSp>
        <p:nvGrpSpPr>
          <p:cNvPr id="33" name="Pillar ATMANIRBHAR BHARAT"/>
          <p:cNvGrpSpPr/>
          <p:nvPr/>
        </p:nvGrpSpPr>
        <p:grpSpPr>
          <a:xfrm>
            <a:off x="9436608" y="2706624"/>
            <a:ext cx="2162556" cy="1458468"/>
            <a:chOff x="9436608" y="2706624"/>
            <a:chExt cx="2162556" cy="1458468"/>
          </a:xfrm>
        </p:grpSpPr>
        <p:sp>
          <p:nvSpPr>
            <p:cNvPr id="34" name="Shadow"/>
            <p:cNvSpPr/>
            <p:nvPr/>
          </p:nvSpPr>
          <p:spPr>
            <a:xfrm>
              <a:off x="9477756" y="2747772"/>
              <a:ext cx="2121408" cy="1417320"/>
            </a:xfrm>
            <a:prstGeom prst="roundRect">
              <a:avLst>
                <a:gd name="adj" fmla="val 2580"/>
              </a:avLst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Panel"/>
            <p:cNvSpPr/>
            <p:nvPr/>
          </p:nvSpPr>
          <p:spPr>
            <a:xfrm>
              <a:off x="9436608" y="2706624"/>
              <a:ext cx="2121408" cy="1417320"/>
            </a:xfrm>
            <a:prstGeom prst="roundRect">
              <a:avLst>
                <a:gd name="adj" fmla="val 2580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ag ATMANIRBHAR BHARAT"/>
            <p:cNvSpPr/>
            <p:nvPr/>
          </p:nvSpPr>
          <p:spPr>
            <a:xfrm>
              <a:off x="9546336" y="2798064"/>
              <a:ext cx="1243584" cy="182880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ATMANIRBHAR BHARAT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546336" y="3017520"/>
              <a:ext cx="1938527" cy="347472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1800" b="1" i="0">
                  <a:solidFill>
                    <a:srgbClr val="DCAD45"/>
                  </a:solidFill>
                  <a:latin typeface="Arial"/>
                </a:rPr>
                <a:t>₹150–250 Cr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6336" y="3364991"/>
              <a:ext cx="1938527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900" b="0" i="1">
                  <a:solidFill>
                    <a:srgbClr val="C9CDE3"/>
                  </a:solidFill>
                  <a:latin typeface="Calibri"/>
                </a:rPr>
                <a:t>saved yearly, 1,000+ districts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546336" y="3602736"/>
              <a:ext cx="1938527" cy="50292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 marL="118872" indent="-118872">
                <a:spcAft>
                  <a:spcPts val="10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950" b="1" i="0">
                  <a:solidFill>
                    <a:srgbClr val="DCAD45"/>
                  </a:solidFill>
                  <a:latin typeface="Calibri"/>
                </a:rPr>
                <a:t>₹15L–₹25L per seat</a:t>
              </a:r>
              <a:r>
                <a:rPr sz="950" b="0" i="0">
                  <a:solidFill>
                    <a:srgbClr val="FFFFFF"/>
                  </a:solidFill>
                  <a:latin typeface="Calibri"/>
                </a:rPr>
                <a:t> avoided</a:t>
              </a:r>
            </a:p>
            <a:p>
              <a:pPr algn="l" marL="118872" indent="-118872">
                <a:spcAft>
                  <a:spcPts val="100"/>
                </a:spcAft>
                <a:buClr>
                  <a:srgbClr val="DCAD45"/>
                </a:buClr>
                <a:buFont typeface="Arial"/>
                <a:buChar char="•"/>
              </a:pPr>
              <a:r>
                <a:rPr sz="950" b="1" i="0">
                  <a:solidFill>
                    <a:srgbClr val="DCAD45"/>
                  </a:solidFill>
                  <a:latin typeface="Calibri"/>
                </a:rPr>
                <a:t>FINnet 2.0 XML</a:t>
              </a:r>
              <a:r>
                <a:rPr sz="950" b="0" i="0">
                  <a:solidFill>
                    <a:srgbClr val="FFFFFF"/>
                  </a:solidFill>
                  <a:latin typeface="Calibri"/>
                </a:rPr>
                <a:t> golden-hour freezes</a:t>
              </a:r>
            </a:p>
          </p:txBody>
        </p:sp>
      </p:grpSp>
      <p:graphicFrame>
        <p:nvGraphicFramePr>
          <p:cNvPr id="40" name="Comparison table"/>
          <p:cNvGraphicFramePr>
            <a:graphicFrameLocks noGrp="1"/>
          </p:cNvGraphicFramePr>
          <p:nvPr/>
        </p:nvGraphicFramePr>
        <p:xfrm>
          <a:off x="4864608" y="4261104"/>
          <a:ext cx="6693408" cy="1316736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2212848"/>
                <a:gridCol w="2560320"/>
              </a:tblGrid>
              <a:tr h="2194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CAD45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15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CAD45"/>
                          </a:solidFill>
                          <a:latin typeface="Arial"/>
                        </a:rPr>
                        <a:t>Foreign suites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15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CAD45"/>
                          </a:solidFill>
                          <a:latin typeface="Arial"/>
                        </a:rPr>
                        <a:t>SUTRA-Trace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151F3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1F3A"/>
                          </a:solidFill>
                          <a:latin typeface="Calibri"/>
                        </a:rPr>
                        <a:t>Annual cost per seat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B6070"/>
                          </a:solidFill>
                          <a:latin typeface="Calibri"/>
                        </a:rPr>
                        <a:t>₹15,00,000 – ₹25,00,000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A3990"/>
                          </a:solidFill>
                          <a:latin typeface="Calibri"/>
                        </a:rPr>
                        <a:t>₹0 · indigenous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4ECD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1F3A"/>
                          </a:solidFill>
                          <a:latin typeface="Calibri"/>
                        </a:rPr>
                        <a:t>Sec. 63 BSA certificate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B6070"/>
                          </a:solidFill>
                          <a:latin typeface="Calibri"/>
                        </a:rPr>
                        <a:t>None · drafted by hand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A3990"/>
                          </a:solidFill>
                          <a:latin typeface="Calibri"/>
                        </a:rPr>
                        <a:t>Automated, 3 scenarios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4ECD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1F3A"/>
                          </a:solidFill>
                          <a:latin typeface="Calibri"/>
                        </a:rPr>
                        <a:t>Sec. 105/106 BNSS chain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B6070"/>
                          </a:solidFill>
                          <a:latin typeface="Calibri"/>
                        </a:rPr>
                        <a:t>Absent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A3990"/>
                          </a:solidFill>
                          <a:latin typeface="Calibri"/>
                        </a:rPr>
                        <a:t>ENF hum + optical PUF seals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4ECD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1F3A"/>
                          </a:solidFill>
                          <a:latin typeface="Calibri"/>
                        </a:rPr>
                        <a:t>Indian money trails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B6070"/>
                          </a:solidFill>
                          <a:latin typeface="Calibri"/>
                        </a:rPr>
                        <a:t>Blind to UPI / NPCI RRNs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A3990"/>
                          </a:solidFill>
                          <a:latin typeface="Calibri"/>
                        </a:rPr>
                        <a:t>UPI RRN + DeFi + FINnet 2.0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4ECD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1F3A"/>
                          </a:solidFill>
                          <a:latin typeface="Calibri"/>
                        </a:rPr>
                        <a:t>Court reproducibility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5B6070"/>
                          </a:solidFill>
                          <a:latin typeface="Calibri"/>
                        </a:rPr>
                        <a:t>Black-box scores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DF9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A3990"/>
                          </a:solidFill>
                          <a:latin typeface="Calibri"/>
                        </a:rPr>
                        <a:t>dd / sha256 / b3sum offsets</a:t>
                      </a:r>
                    </a:p>
                  </a:txBody>
                  <a:tcPr marL="64008" marR="64008" marT="9144" marB="9144" anchor="ctr">
                    <a:lnL w="9525">
                      <a:solidFill>
                        <a:srgbClr val="C9BEAC"/>
                      </a:solidFill>
                    </a:lnL>
                    <a:lnR w="9525">
                      <a:solidFill>
                        <a:srgbClr val="C9BEAC"/>
                      </a:solidFill>
                    </a:lnR>
                    <a:lnT w="9525">
                      <a:solidFill>
                        <a:srgbClr val="151F3A"/>
                      </a:solidFill>
                    </a:lnT>
                    <a:lnB w="9525">
                      <a:solidFill>
                        <a:srgbClr val="151F3A"/>
                      </a:solidFill>
                    </a:lnB>
                    <a:solidFill>
                      <a:srgbClr val="F4ECD3"/>
                    </a:solidFill>
                  </a:tcPr>
                </a:tc>
              </a:tr>
            </a:tbl>
          </a:graphicData>
        </a:graphic>
      </p:graphicFrame>
      <p:grpSp>
        <p:nvGrpSpPr>
          <p:cNvPr id="41" name="Badge SOCIAL"/>
          <p:cNvGrpSpPr/>
          <p:nvPr/>
        </p:nvGrpSpPr>
        <p:grpSpPr>
          <a:xfrm>
            <a:off x="4864608" y="5760720"/>
            <a:ext cx="2170176" cy="329184"/>
            <a:chOff x="4864608" y="5760720"/>
            <a:chExt cx="2170176" cy="329184"/>
          </a:xfrm>
        </p:grpSpPr>
        <p:sp>
          <p:nvSpPr>
            <p:cNvPr id="42" name="Panel"/>
            <p:cNvSpPr/>
            <p:nvPr/>
          </p:nvSpPr>
          <p:spPr>
            <a:xfrm>
              <a:off x="4864608" y="5760720"/>
              <a:ext cx="2170176" cy="329184"/>
            </a:xfrm>
            <a:prstGeom prst="roundRect">
              <a:avLst>
                <a:gd name="adj" fmla="val 11111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ag SOCIAL"/>
            <p:cNvSpPr/>
            <p:nvPr/>
          </p:nvSpPr>
          <p:spPr>
            <a:xfrm>
              <a:off x="4919472" y="5824728"/>
              <a:ext cx="489204" cy="201168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FFFFFF"/>
                  </a:solidFill>
                  <a:latin typeface="Courier New"/>
                </a:rPr>
                <a:t>SOCIAL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63540" y="5760720"/>
              <a:ext cx="1552956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victim relief, PII-safe</a:t>
              </a:r>
            </a:p>
          </p:txBody>
        </p:sp>
      </p:grpSp>
      <p:grpSp>
        <p:nvGrpSpPr>
          <p:cNvPr id="45" name="Badge ECONOMIC"/>
          <p:cNvGrpSpPr/>
          <p:nvPr/>
        </p:nvGrpSpPr>
        <p:grpSpPr>
          <a:xfrm>
            <a:off x="7126224" y="5760720"/>
            <a:ext cx="2170176" cy="329184"/>
            <a:chOff x="7126224" y="5760720"/>
            <a:chExt cx="2170176" cy="329184"/>
          </a:xfrm>
        </p:grpSpPr>
        <p:sp>
          <p:nvSpPr>
            <p:cNvPr id="46" name="Panel"/>
            <p:cNvSpPr/>
            <p:nvPr/>
          </p:nvSpPr>
          <p:spPr>
            <a:xfrm>
              <a:off x="7126224" y="5760720"/>
              <a:ext cx="2170176" cy="329184"/>
            </a:xfrm>
            <a:prstGeom prst="roundRect">
              <a:avLst>
                <a:gd name="adj" fmla="val 11111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ag ECONOMIC"/>
            <p:cNvSpPr/>
            <p:nvPr/>
          </p:nvSpPr>
          <p:spPr>
            <a:xfrm>
              <a:off x="7181088" y="5824728"/>
              <a:ext cx="603504" cy="201168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151F3A"/>
                  </a:solidFill>
                  <a:latin typeface="Courier New"/>
                </a:rPr>
                <a:t>ECONOMIC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39456" y="5760720"/>
              <a:ext cx="1438656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₹150+ Cr public savings</a:t>
              </a:r>
            </a:p>
          </p:txBody>
        </p:sp>
      </p:grpSp>
      <p:grpSp>
        <p:nvGrpSpPr>
          <p:cNvPr id="49" name="Badge GREEN"/>
          <p:cNvGrpSpPr/>
          <p:nvPr/>
        </p:nvGrpSpPr>
        <p:grpSpPr>
          <a:xfrm>
            <a:off x="9387840" y="5760720"/>
            <a:ext cx="2170176" cy="329184"/>
            <a:chOff x="9387840" y="5760720"/>
            <a:chExt cx="2170176" cy="329184"/>
          </a:xfrm>
        </p:grpSpPr>
        <p:sp>
          <p:nvSpPr>
            <p:cNvPr id="50" name="Panel"/>
            <p:cNvSpPr/>
            <p:nvPr/>
          </p:nvSpPr>
          <p:spPr>
            <a:xfrm>
              <a:off x="9387840" y="5760720"/>
              <a:ext cx="2170176" cy="329184"/>
            </a:xfrm>
            <a:prstGeom prst="roundRect">
              <a:avLst>
                <a:gd name="adj" fmla="val 11111"/>
              </a:avLst>
            </a:prstGeom>
            <a:solidFill>
              <a:srgbClr val="FDF9EE"/>
            </a:solidFill>
            <a:ln w="12700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ag GREEN"/>
            <p:cNvSpPr/>
            <p:nvPr/>
          </p:nvSpPr>
          <p:spPr>
            <a:xfrm>
              <a:off x="9442704" y="5824728"/>
              <a:ext cx="432054" cy="201168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750" b="1" i="0">
                  <a:solidFill>
                    <a:srgbClr val="151F3A"/>
                  </a:solidFill>
                  <a:latin typeface="Courier New"/>
                </a:rPr>
                <a:t>GREEN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929622" y="5760720"/>
              <a:ext cx="1610106" cy="32918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950" b="1" i="0">
                  <a:solidFill>
                    <a:srgbClr val="151F3A"/>
                  </a:solidFill>
                  <a:latin typeface="Calibri"/>
                </a:rPr>
                <a:t>5+ yr PC life, no GPUs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content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_igdtuw" descr="logo_igdtu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logo_isea" descr="logo_is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Section number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6" name="Section title"/>
          <p:cNvSpPr txBox="1"/>
          <p:nvPr/>
        </p:nvSpPr>
        <p:spPr>
          <a:xfrm>
            <a:off x="2560320" y="237744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34A"/>
                </a:solidFill>
                <a:latin typeface="Arial"/>
              </a:rPr>
              <a:t>RESEARCH AND REFERENCES</a:t>
            </a:r>
          </a:p>
        </p:txBody>
      </p:sp>
      <p:sp>
        <p:nvSpPr>
          <p:cNvPr id="7" name="Title bar"/>
          <p:cNvSpPr/>
          <p:nvPr/>
        </p:nvSpPr>
        <p:spPr>
          <a:xfrm>
            <a:off x="2596896" y="905256"/>
            <a:ext cx="1371600" cy="51206"/>
          </a:xfrm>
          <a:prstGeom prst="rect">
            <a:avLst/>
          </a:prstGeom>
          <a:solidFill>
            <a:srgbClr val="1F7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hat to cover card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4DEE8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709E"/>
                </a:solidFill>
                <a:latin typeface="Arial"/>
              </a:rPr>
              <a:t>WHAT TO COVER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713232" y="2066543"/>
            <a:ext cx="352044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0" indent="0">
              <a:lnSpc>
                <a:spcPct val="112000"/>
              </a:lnSpc>
              <a:spcAft>
                <a:spcPts val="1100"/>
              </a:spcAft>
              <a:buClr>
                <a:srgbClr val="597082"/>
              </a:buClr>
              <a:buFont typeface="Segoe UI Symbol"/>
              <a:buChar char="▸"/>
            </a:pPr>
            <a:r>
              <a:rPr sz="1400" b="0" i="0">
                <a:solidFill>
                  <a:srgbClr val="597082"/>
                </a:solidFill>
                <a:latin typeface="Calibri"/>
              </a:rPr>
              <a:t>  Details / links of the reference and research work</a:t>
            </a:r>
          </a:p>
        </p:txBody>
      </p:sp>
      <p:sp>
        <p:nvSpPr>
          <p:cNvPr id="11" name="Writing box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3333"/>
            </a:avLst>
          </a:prstGeom>
          <a:solidFill>
            <a:srgbClr val="E9E1D6"/>
          </a:solidFill>
          <a:ln w="15875">
            <a:solidFill>
              <a:srgbClr val="E0E8F0"/>
            </a:solidFill>
          </a:ln>
          <a:effectLst>
            <a:outerShdw blurRad="82296" dist="27432" dir="5400000" algn="t" rotWithShape="0">
              <a:srgbClr val="17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 label"/>
          <p:cNvSpPr txBox="1"/>
          <p:nvPr/>
        </p:nvSpPr>
        <p:spPr>
          <a:xfrm>
            <a:off x="4864608" y="1636776"/>
            <a:ext cx="6693408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A3990"/>
                </a:solidFill>
                <a:latin typeface="Courier New"/>
              </a:rPr>
              <a:t>YOUR RESEARCH AND REFERENCES</a:t>
            </a:r>
          </a:p>
        </p:txBody>
      </p:sp>
      <p:sp>
        <p:nvSpPr>
          <p:cNvPr id="13" name="Box headline"/>
          <p:cNvSpPr txBox="1"/>
          <p:nvPr/>
        </p:nvSpPr>
        <p:spPr>
          <a:xfrm>
            <a:off x="4864608" y="1874519"/>
            <a:ext cx="669340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F3A"/>
                </a:solidFill>
                <a:latin typeface="Arial"/>
              </a:rPr>
              <a:t>Every claim traces to a statute, paper or dataset.</a:t>
            </a:r>
          </a:p>
        </p:txBody>
      </p:sp>
      <p:sp>
        <p:nvSpPr>
          <p:cNvPr id="14" name="Footer team"/>
          <p:cNvSpPr txBox="1"/>
          <p:nvPr/>
        </p:nvSpPr>
        <p:spPr>
          <a:xfrm>
            <a:off x="457200" y="64648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Team SUTRA-Trace</a:t>
            </a:r>
          </a:p>
        </p:txBody>
      </p:sp>
      <p:sp>
        <p:nvSpPr>
          <p:cNvPr id="15" name="Footer tagline"/>
          <p:cNvSpPr txBox="1"/>
          <p:nvPr/>
        </p:nvSpPr>
        <p:spPr>
          <a:xfrm>
            <a:off x="4023360" y="6464808"/>
            <a:ext cx="3675887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C4D4E3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6" name="logo_sutram_light" descr="logo_sutram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359"/>
          </a:xfrm>
          <a:prstGeom prst="rect">
            <a:avLst/>
          </a:prstGeom>
        </p:spPr>
      </p:pic>
      <p:sp>
        <p:nvSpPr>
          <p:cNvPr id="17" name="Page number"/>
          <p:cNvSpPr txBox="1"/>
          <p:nvPr/>
        </p:nvSpPr>
        <p:spPr>
          <a:xfrm>
            <a:off x="11384280" y="6464808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4D4E3"/>
                </a:solidFill>
                <a:latin typeface="Arial"/>
              </a:rPr>
              <a:t>09</a:t>
            </a:r>
          </a:p>
        </p:txBody>
      </p:sp>
      <p:grpSp>
        <p:nvGrpSpPr>
          <p:cNvPr id="18" name="Refs Statutes &amp; precedents"/>
          <p:cNvGrpSpPr/>
          <p:nvPr/>
        </p:nvGrpSpPr>
        <p:grpSpPr>
          <a:xfrm>
            <a:off x="4864608" y="2304288"/>
            <a:ext cx="3305556" cy="1851660"/>
            <a:chOff x="4864608" y="2304288"/>
            <a:chExt cx="3305556" cy="1851660"/>
          </a:xfrm>
        </p:grpSpPr>
        <p:sp>
          <p:nvSpPr>
            <p:cNvPr id="19" name="Shadow"/>
            <p:cNvSpPr/>
            <p:nvPr/>
          </p:nvSpPr>
          <p:spPr>
            <a:xfrm>
              <a:off x="4905756" y="2345436"/>
              <a:ext cx="3264408" cy="1810512"/>
            </a:xfrm>
            <a:prstGeom prst="roundRect">
              <a:avLst>
                <a:gd name="adj" fmla="val 202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anel"/>
            <p:cNvSpPr/>
            <p:nvPr/>
          </p:nvSpPr>
          <p:spPr>
            <a:xfrm>
              <a:off x="4864608" y="2304288"/>
              <a:ext cx="3264408" cy="1810512"/>
            </a:xfrm>
            <a:prstGeom prst="roundRect">
              <a:avLst>
                <a:gd name="adj" fmla="val 202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ag STATUTORY"/>
            <p:cNvSpPr/>
            <p:nvPr/>
          </p:nvSpPr>
          <p:spPr>
            <a:xfrm>
              <a:off x="4974336" y="2395728"/>
              <a:ext cx="694944" cy="201168"/>
            </a:xfrm>
            <a:prstGeom prst="rect">
              <a:avLst/>
            </a:prstGeom>
            <a:solidFill>
              <a:srgbClr val="C2536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FFFFFF"/>
                  </a:solidFill>
                  <a:latin typeface="Courier New"/>
                </a:rPr>
                <a:t>STATUTORY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74336" y="2633472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STATUTES &amp; PRECEDENTS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74336" y="2871216"/>
              <a:ext cx="3081528" cy="1207007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[S1]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BSA 2023, Sec. 39(1)–(2), 45, 57 (Expl. 5), 63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[S2]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BNSS 2023, Sec. 94, 105, 106, 230 · IT Act Sec. 79A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[S3]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DPDP 2023 s.17 · PMLA s.17(1A), Rule 8 · ISO/IEC 27037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[S4]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Arjun Panditrao Khotkar v. Kailash Gorantyal, (2020) 7 SCC 1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[S5]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Gopalkrishnan @ Dileep v. State of Kerala, (2019) 9 SCC 166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[S6]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State of H.P. v. Jai Lal, (1999) 7 SCC 280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[S7]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K.S. Puttaswamy v. Union of India, (2017) 10 SCC 1</a:t>
              </a:r>
            </a:p>
          </p:txBody>
        </p:sp>
      </p:grpSp>
      <p:grpSp>
        <p:nvGrpSpPr>
          <p:cNvPr id="24" name="Refs NFSU scholarship (P. H. Rughani)"/>
          <p:cNvGrpSpPr/>
          <p:nvPr/>
        </p:nvGrpSpPr>
        <p:grpSpPr>
          <a:xfrm>
            <a:off x="8293608" y="2304288"/>
            <a:ext cx="3305556" cy="1851660"/>
            <a:chOff x="8293608" y="2304288"/>
            <a:chExt cx="3305556" cy="1851660"/>
          </a:xfrm>
        </p:grpSpPr>
        <p:sp>
          <p:nvSpPr>
            <p:cNvPr id="25" name="Shadow"/>
            <p:cNvSpPr/>
            <p:nvPr/>
          </p:nvSpPr>
          <p:spPr>
            <a:xfrm>
              <a:off x="8334756" y="2345436"/>
              <a:ext cx="3264408" cy="1810512"/>
            </a:xfrm>
            <a:prstGeom prst="roundRect">
              <a:avLst>
                <a:gd name="adj" fmla="val 202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anel"/>
            <p:cNvSpPr/>
            <p:nvPr/>
          </p:nvSpPr>
          <p:spPr>
            <a:xfrm>
              <a:off x="8293608" y="2304288"/>
              <a:ext cx="3264408" cy="1810512"/>
            </a:xfrm>
            <a:prstGeom prst="roundRect">
              <a:avLst>
                <a:gd name="adj" fmla="val 202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ag NFSU"/>
            <p:cNvSpPr/>
            <p:nvPr/>
          </p:nvSpPr>
          <p:spPr>
            <a:xfrm>
              <a:off x="8403336" y="2395728"/>
              <a:ext cx="390144" cy="201168"/>
            </a:xfrm>
            <a:prstGeom prst="rect">
              <a:avLst/>
            </a:prstGeom>
            <a:solidFill>
              <a:srgbClr val="DCAD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NFSU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03336" y="2633472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NFSU SCHOLARSHIP (P. H. RUGHANI)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403336" y="2871216"/>
              <a:ext cx="3081528" cy="1207007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[N1]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Gogia, S. &amp; Rughani, P. H. (2023). SynFO, NFSU Gandhinagar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[N2]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Rughani, P. H. et al. FSAGen &amp; PAREX file-system validation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[N3]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Rughani, P. H. Smart Acquisition, Analysis &amp; Reporting</a:t>
              </a:r>
            </a:p>
          </p:txBody>
        </p:sp>
      </p:grpSp>
      <p:grpSp>
        <p:nvGrpSpPr>
          <p:cNvPr id="30" name="Refs Tier-1 provenance &amp; deepfake"/>
          <p:cNvGrpSpPr/>
          <p:nvPr/>
        </p:nvGrpSpPr>
        <p:grpSpPr>
          <a:xfrm>
            <a:off x="4864608" y="4224528"/>
            <a:ext cx="3305556" cy="1504188"/>
            <a:chOff x="4864608" y="4224528"/>
            <a:chExt cx="3305556" cy="1504188"/>
          </a:xfrm>
        </p:grpSpPr>
        <p:sp>
          <p:nvSpPr>
            <p:cNvPr id="31" name="Shadow"/>
            <p:cNvSpPr/>
            <p:nvPr/>
          </p:nvSpPr>
          <p:spPr>
            <a:xfrm>
              <a:off x="4905756" y="4265676"/>
              <a:ext cx="3264408" cy="1463040"/>
            </a:xfrm>
            <a:prstGeom prst="roundRect">
              <a:avLst>
                <a:gd name="adj" fmla="val 250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Panel"/>
            <p:cNvSpPr/>
            <p:nvPr/>
          </p:nvSpPr>
          <p:spPr>
            <a:xfrm>
              <a:off x="4864608" y="4224528"/>
              <a:ext cx="3264408" cy="1463040"/>
            </a:xfrm>
            <a:prstGeom prst="roundRect">
              <a:avLst>
                <a:gd name="adj" fmla="val 250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ag LITERATURE"/>
            <p:cNvSpPr/>
            <p:nvPr/>
          </p:nvSpPr>
          <p:spPr>
            <a:xfrm>
              <a:off x="4974336" y="4315968"/>
              <a:ext cx="755904" cy="201168"/>
            </a:xfrm>
            <a:prstGeom prst="rect">
              <a:avLst/>
            </a:prstGeom>
            <a:solidFill>
              <a:srgbClr val="CDD0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151F3A"/>
                  </a:solidFill>
                  <a:latin typeface="Courier New"/>
                </a:rPr>
                <a:t>LITERATURE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74336" y="4553712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TIER-1 PROVENANCE &amp; DEEPFAKE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74336" y="4791456"/>
              <a:ext cx="3081528" cy="85953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[L1]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Cheng et al. KAIROS, IEEE S&amp;P 2023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[L2]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Rossi et al. TGN, 2020 · Han et al. UNICORN, NDSS 2020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[L3]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Pasquier et al. CamFlow, 2017 · Zeng et al. SHADEWATCHER, 2022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[L4]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Wang et al. POS rPPG, 2017 · Wang et al. DIRE, ICCV 2023</a:t>
              </a:r>
            </a:p>
          </p:txBody>
        </p:sp>
      </p:grpSp>
      <p:grpSp>
        <p:nvGrpSpPr>
          <p:cNvPr id="36" name="Refs Benchmarks &amp; blueprint"/>
          <p:cNvGrpSpPr/>
          <p:nvPr/>
        </p:nvGrpSpPr>
        <p:grpSpPr>
          <a:xfrm>
            <a:off x="8293608" y="4224528"/>
            <a:ext cx="3305556" cy="1504188"/>
            <a:chOff x="8293608" y="4224528"/>
            <a:chExt cx="3305556" cy="1504188"/>
          </a:xfrm>
        </p:grpSpPr>
        <p:sp>
          <p:nvSpPr>
            <p:cNvPr id="37" name="Shadow"/>
            <p:cNvSpPr/>
            <p:nvPr/>
          </p:nvSpPr>
          <p:spPr>
            <a:xfrm>
              <a:off x="8334756" y="4265676"/>
              <a:ext cx="3264408" cy="1463040"/>
            </a:xfrm>
            <a:prstGeom prst="roundRect">
              <a:avLst>
                <a:gd name="adj" fmla="val 2500"/>
              </a:avLst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anel"/>
            <p:cNvSpPr/>
            <p:nvPr/>
          </p:nvSpPr>
          <p:spPr>
            <a:xfrm>
              <a:off x="8293608" y="4224528"/>
              <a:ext cx="3264408" cy="1463040"/>
            </a:xfrm>
            <a:prstGeom prst="roundRect">
              <a:avLst>
                <a:gd name="adj" fmla="val 2500"/>
              </a:avLst>
            </a:prstGeom>
            <a:solidFill>
              <a:srgbClr val="FDF9EE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ag DATASETS"/>
            <p:cNvSpPr/>
            <p:nvPr/>
          </p:nvSpPr>
          <p:spPr>
            <a:xfrm>
              <a:off x="8403336" y="4315968"/>
              <a:ext cx="633984" cy="201168"/>
            </a:xfrm>
            <a:prstGeom prst="rect">
              <a:avLst/>
            </a:prstGeom>
            <a:solidFill>
              <a:srgbClr val="15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64008" tIns="0" rIns="64008" bIns="0"/>
            <a:lstStyle/>
            <a:p>
              <a:pPr algn="l">
                <a:spcAft>
                  <a:spcPts val="0"/>
                </a:spcAft>
              </a:pPr>
              <a:r>
                <a:rPr sz="800" b="1" i="0">
                  <a:solidFill>
                    <a:srgbClr val="DCAD45"/>
                  </a:solidFill>
                  <a:latin typeface="Courier New"/>
                </a:rPr>
                <a:t>DATASETS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403336" y="4553712"/>
              <a:ext cx="3063240" cy="20116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1000" b="1" i="0">
                  <a:solidFill>
                    <a:srgbClr val="151F3A"/>
                  </a:solidFill>
                  <a:latin typeface="Arial"/>
                </a:rPr>
                <a:t>BENCHMARKS &amp; BLUEPRINT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403336" y="4791456"/>
              <a:ext cx="3081528" cy="85953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[D1]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DARPA TC Engagement 3 / 5 (CADETS, THEIA, TRACE)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[D2]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NIST CFReDS &amp; CFTT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[D3]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CCCS-CIC-AndMal-2020 · CSE-CIC-IDS2018</a:t>
              </a:r>
            </a:p>
            <a:p>
              <a:pPr algn="l">
                <a:spcAft>
                  <a:spcPts val="150"/>
                </a:spcAft>
              </a:pPr>
              <a:r>
                <a:rPr sz="750" b="1" i="0">
                  <a:solidFill>
                    <a:srgbClr val="C2536F"/>
                  </a:solidFill>
                  <a:latin typeface="Courier New"/>
                </a:rPr>
                <a:t>[B1]</a:t>
              </a:r>
              <a:r>
                <a:rPr sz="850" b="0" i="0">
                  <a:solidFill>
                    <a:srgbClr val="151F3A"/>
                  </a:solidFill>
                  <a:latin typeface="Calibri"/>
                </a:rPr>
                <a:t>  Live architecture blueprint:</a:t>
              </a:r>
            </a:p>
            <a:p>
              <a:pPr algn="l">
                <a:spcAft>
                  <a:spcPts val="100"/>
                </a:spcAft>
              </a:pPr>
              <a:r>
                <a:rPr sz="850" b="1" i="0">
                  <a:solidFill>
                    <a:srgbClr val="2A3990"/>
                  </a:solidFill>
                  <a:latin typeface="Courier New"/>
                  <a:hlinkClick r:id="rId6"/>
                </a:rPr>
                <a:t>share.gemini.google/VGvgu3LxFA4E</a:t>
              </a:r>
            </a:p>
          </p:txBody>
        </p:sp>
      </p:grpSp>
      <p:grpSp>
        <p:nvGrpSpPr>
          <p:cNvPr id="42" name="Banner"/>
          <p:cNvGrpSpPr/>
          <p:nvPr/>
        </p:nvGrpSpPr>
        <p:grpSpPr>
          <a:xfrm>
            <a:off x="4864608" y="5797296"/>
            <a:ext cx="6693408" cy="292608"/>
            <a:chOff x="4864608" y="5797296"/>
            <a:chExt cx="6693408" cy="292608"/>
          </a:xfrm>
        </p:grpSpPr>
        <p:sp>
          <p:nvSpPr>
            <p:cNvPr id="43" name="Panel"/>
            <p:cNvSpPr/>
            <p:nvPr/>
          </p:nvSpPr>
          <p:spPr>
            <a:xfrm>
              <a:off x="4864608" y="5797296"/>
              <a:ext cx="6693408" cy="292608"/>
            </a:xfrm>
            <a:prstGeom prst="roundRect">
              <a:avLst>
                <a:gd name="adj" fmla="val 12500"/>
              </a:avLst>
            </a:prstGeom>
            <a:solidFill>
              <a:srgbClr val="151F3A"/>
            </a:solidFill>
            <a:ln w="15875">
              <a:solidFill>
                <a:srgbClr val="151F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992624" y="5797296"/>
              <a:ext cx="6437376" cy="29260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>
                <a:spcAft>
                  <a:spcPts val="100"/>
                </a:spcAft>
              </a:pPr>
              <a:r>
                <a:rPr sz="1050" b="1" i="1">
                  <a:solidFill>
                    <a:srgbClr val="DCAD45"/>
                  </a:solidFill>
                  <a:latin typeface="Cambria"/>
                </a:rPr>
                <a:t>SUTRA-Trace: where every fragmented trace connects with cryptographic certainty.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SUTRAM 2026 · PS-01 · SUTRA-Trace · Idea Submission</dc:title>
  <dc:subject/>
  <dc:creator>Team SUTRA-Trace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